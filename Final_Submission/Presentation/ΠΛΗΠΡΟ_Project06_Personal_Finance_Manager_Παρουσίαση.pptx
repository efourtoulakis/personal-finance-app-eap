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8" d="100"/>
          <a:sy n="158" d="100"/>
        </p:scale>
        <p:origin x="2526"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39704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Ξεκινάμε με το πλαίσιο της εργασίας: πρόκειται για desktop εφαρμογή διαχείρισης προσωπικών οικονομικών. Αναφέρουμε σύντομα τα μέλη και ότι θα δείξουμε στόχο, υλοποίηση, λειτουργίες, δοκιμές και συμπεράσματα.</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Εδώ εξηγούμε την ανάγκη: ένας χρήστης θέλει απλό τρόπο να βλέπει πού πάνε τα χρήματά του. Δεν μιλάμε ακόμη τεχνικά, αλλά πρακτικά: καταχωρώ, βλέπω σύνολα, φιλτράρω, εξάγω αναφορά.</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Σε αυτή τη διαφάνεια δεν χρειάζεται να διαβάσουμε όλα τα σημεία. Λέμε ότι η υλοποίηση δεν περιορίστηκε στο ελάχιστο: εκτός από Excel, προστέθηκε και PDF, υπάρχουν 4 γραφήματα, φίλτρα ημερομηνιών και οργανωμένη τεκμηρίωση.</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Τονίζουμε τη modular λογική: GUI, logic, database, storage. Αυτό βοήθησε να γίνουν διορθώσεις χωρίς να χαλάσουν τεσταρισμένα σημεία. Μπορεί να αναφερθεί ότι το database.py είναι το κεντρικό σημείο επικοινωνίας με τη SQLite.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Εξηγούμε το ERD με απλά λόγια: μία κατηγορία έχει πολλές συναλλαγές και πολλές recurring εγγραφές. Αναφέρουμε την παραδοχή για τη διαγραφή κατηγορίας και τις μορφές ημερομηνίας.</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Εδώ μπορούμε να δείξουμε live το πρώτο demo: άνοιγμα οθόνης συναλλαγών, εφαρμογή φίλτρου Από/Έως και καθαρισμός φίλτρων. Σημειώνουμε ότι το φίλτρο δεν γίνεται τυχαία, αλλά με κουμπί Εύρεση για πιο ελεγχόμενη εμπειρία.</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Προφορικά: δείχνουμε ότι δεν είναι μόνο εισαγωγή δεδομένων. Υπάρχει έλεγχος για κενά πεδία, λάθος ποσό και λάθος ημερομηνία. Για τις κατηγορίες αναφέρουμε ότι υπάρχει προστασία από διαγραφή όταν υπάρχουν συνδεδεμένες εγγραφές.</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Εδώ χρειάζεται πρακτική εξήγηση: πρώτα δημιουργούμε recurring εγγραφή, μετά πατάμε δημιουργία διαστήματος. Δεν δημιουργούνται όλοι οι μήνες αυτόματα χωρίς ενέργεια. Το marker είναι εσωτερικός μηχανισμός για έλεγχο διπλοεγγραφών και δεν εμφανίζεται στον χρήστη.</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Προτείνεται να δείξουμε ένα γράφημα εξόδων και μετά τη μηνιαία σύνοψη. Τονίζουμε ότι τα γραφήματα δεν είναι απλά εικόνες, αλλά διαβάζουν δεδομένα από τη SQLite μέσω database functions.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Στην παρουσίαση δείχνουμε ότι το Excel είναι χρήσιμο για περαιτέρω επεξεργασία, ενώ το PDF είναι πιο έτοιμο σαν αναφορά. Αναφέρουμε τη δυσκολία με τα ελληνικά και τη χρήση Unicode γραμματοσειράς στο PDF.</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Σε αυτή τη διαφάνεια λέμε σύντομα ότι το νέο GitHub repository είναι το επίσημο σημείο του κώδικα. Το ClickUp δεν χρειάζεται να το υπεραναλύσουμε· το κρατάμε ως απόδειξη οργάνωσης και ιχνηλάτησης. Μετά αναφέρουμε το manual test cycle T00-T09.</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Αυτή η διαφάνεια είναι χρήσιμη στην εξέταση γιατί δείχνει ότι ο καθηγητής μπορεί να ανοίξει την εφαρμογή μόνος του. Το λέμε φιλικά και πρακτικά: unzip, terminal, pip install, python main.py. Αν θέλουμε demo δεδομένα, τρέχουμε πρώτα python demo_data.py.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Κλείνουμε με τις δυσκολίες και τις λύσεις. Δεν χρειάζεται υπερβολή. Δείχνουμε ότι έγιναν πραγματικές διορθώσεις και ότι η ομάδα κατάλαβε θέματα αρχιτεκτονικής, βάσης, validation, exports και testing. Μετά περνάμε σε live demo ή ερωτήσεις.</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efourtoulakis/Personal-Finance-App-EAP"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hyperlink" Target="https://sharing.clickup.com/90121574829/l/h/4-90126898028-1/8ca5efa8ada001c" TargetMode="External"/><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94360" y="685800"/>
            <a:ext cx="5349240" cy="502920"/>
          </a:xfrm>
          <a:prstGeom prst="rect">
            <a:avLst/>
          </a:prstGeom>
          <a:noFill/>
          <a:ln/>
        </p:spPr>
        <p:txBody>
          <a:bodyPr wrap="square" lIns="0" tIns="0" rIns="0" bIns="0" rtlCol="0" anchor="ctr"/>
          <a:lstStyle/>
          <a:p>
            <a:pPr marL="0" indent="0">
              <a:buNone/>
            </a:pPr>
            <a:r>
              <a:rPr lang="en-US" sz="3000" b="1" dirty="0">
                <a:solidFill>
                  <a:srgbClr val="F8FAFC"/>
                </a:solidFill>
                <a:latin typeface="Arial" pitchFamily="34" charset="0"/>
                <a:ea typeface="Arial" pitchFamily="34" charset="-122"/>
                <a:cs typeface="Arial" pitchFamily="34" charset="-120"/>
              </a:rPr>
              <a:t>Personal Finance Manager</a:t>
            </a:r>
            <a:endParaRPr lang="en-US" sz="3000" dirty="0"/>
          </a:p>
        </p:txBody>
      </p:sp>
      <p:sp>
        <p:nvSpPr>
          <p:cNvPr id="3" name="Text 1"/>
          <p:cNvSpPr/>
          <p:nvPr/>
        </p:nvSpPr>
        <p:spPr>
          <a:xfrm>
            <a:off x="612648" y="1234440"/>
            <a:ext cx="5440680" cy="292608"/>
          </a:xfrm>
          <a:prstGeom prst="rect">
            <a:avLst/>
          </a:prstGeom>
          <a:noFill/>
          <a:ln/>
        </p:spPr>
        <p:txBody>
          <a:bodyPr wrap="square" lIns="0" tIns="0" rIns="0" bIns="0" rtlCol="0" anchor="ctr"/>
          <a:lstStyle/>
          <a:p>
            <a:pPr marL="0" indent="0">
              <a:buNone/>
            </a:pPr>
            <a:r>
              <a:rPr lang="en-US" sz="1400" dirty="0">
                <a:solidFill>
                  <a:srgbClr val="60A5FA"/>
                </a:solidFill>
                <a:latin typeface="Arial" pitchFamily="34" charset="0"/>
                <a:ea typeface="Arial" pitchFamily="34" charset="-122"/>
                <a:cs typeface="Arial" pitchFamily="34" charset="-120"/>
              </a:rPr>
              <a:t>Project 06 - Ανάπτυξη εφαρμογής διαχείρισης προσωπικών οικονομικών</a:t>
            </a:r>
            <a:endParaRPr lang="en-US" sz="1400" dirty="0"/>
          </a:p>
        </p:txBody>
      </p:sp>
      <p:sp>
        <p:nvSpPr>
          <p:cNvPr id="4" name="Text 2"/>
          <p:cNvSpPr/>
          <p:nvPr/>
        </p:nvSpPr>
        <p:spPr>
          <a:xfrm>
            <a:off x="612648" y="1600200"/>
            <a:ext cx="4846320" cy="274320"/>
          </a:xfrm>
          <a:prstGeom prst="rect">
            <a:avLst/>
          </a:prstGeom>
          <a:noFill/>
          <a:ln/>
        </p:spPr>
        <p:txBody>
          <a:bodyPr wrap="square" lIns="0" tIns="0" rIns="0" bIns="0" rtlCol="0" anchor="ctr"/>
          <a:lstStyle/>
          <a:p>
            <a:pPr marL="0" indent="0">
              <a:buNone/>
            </a:pPr>
            <a:r>
              <a:rPr lang="en-US" sz="1200" dirty="0">
                <a:solidFill>
                  <a:srgbClr val="CBD5E1"/>
                </a:solidFill>
                <a:latin typeface="Arial" pitchFamily="34" charset="0"/>
                <a:ea typeface="Arial" pitchFamily="34" charset="-122"/>
                <a:cs typeface="Arial" pitchFamily="34" charset="-120"/>
              </a:rPr>
              <a:t>ΠΛΗΠΡΟ | ΕΑΠ - ΠΛΗΠΡΟ - ΗΛΕ50</a:t>
            </a:r>
            <a:endParaRPr lang="en-US" sz="1200" dirty="0"/>
          </a:p>
        </p:txBody>
      </p:sp>
      <p:sp>
        <p:nvSpPr>
          <p:cNvPr id="5" name="Shape 3"/>
          <p:cNvSpPr/>
          <p:nvPr/>
        </p:nvSpPr>
        <p:spPr>
          <a:xfrm>
            <a:off x="612648" y="2057400"/>
            <a:ext cx="1508760" cy="0"/>
          </a:xfrm>
          <a:prstGeom prst="line">
            <a:avLst/>
          </a:prstGeom>
          <a:noFill/>
          <a:ln w="38100">
            <a:solidFill>
              <a:srgbClr val="3B82F6"/>
            </a:solidFill>
            <a:prstDash val="solid"/>
          </a:ln>
        </p:spPr>
      </p:sp>
      <p:sp>
        <p:nvSpPr>
          <p:cNvPr id="6" name="Text 4"/>
          <p:cNvSpPr/>
          <p:nvPr/>
        </p:nvSpPr>
        <p:spPr>
          <a:xfrm>
            <a:off x="612648" y="2487168"/>
            <a:ext cx="2926080" cy="256032"/>
          </a:xfrm>
          <a:prstGeom prst="rect">
            <a:avLst/>
          </a:prstGeom>
          <a:noFill/>
          <a:ln/>
        </p:spPr>
        <p:txBody>
          <a:bodyPr wrap="square" lIns="0" tIns="0" rIns="0" bIns="0" rtlCol="0" anchor="ctr"/>
          <a:lstStyle/>
          <a:p>
            <a:pPr marL="0" indent="0">
              <a:buNone/>
            </a:pPr>
            <a:r>
              <a:rPr lang="en-US" sz="1300" b="1" dirty="0">
                <a:solidFill>
                  <a:srgbClr val="F8FAFC"/>
                </a:solidFill>
                <a:latin typeface="Arial" pitchFamily="34" charset="0"/>
                <a:ea typeface="Arial" pitchFamily="34" charset="-122"/>
                <a:cs typeface="Arial" pitchFamily="34" charset="-120"/>
              </a:rPr>
              <a:t>Μέλη ομάδας</a:t>
            </a:r>
            <a:endParaRPr lang="en-US" sz="1300" dirty="0"/>
          </a:p>
        </p:txBody>
      </p:sp>
      <p:sp>
        <p:nvSpPr>
          <p:cNvPr id="7" name="Text 5"/>
          <p:cNvSpPr/>
          <p:nvPr/>
        </p:nvSpPr>
        <p:spPr>
          <a:xfrm>
            <a:off x="640080" y="2852928"/>
            <a:ext cx="4480560" cy="1143000"/>
          </a:xfrm>
          <a:prstGeom prst="rect">
            <a:avLst/>
          </a:prstGeom>
          <a:noFill/>
          <a:ln/>
        </p:spPr>
        <p:txBody>
          <a:bodyPr wrap="square" lIns="254" tIns="254" rIns="254" bIns="254" rtlCol="0" anchor="ctr"/>
          <a:lstStyle/>
          <a:p>
            <a:pPr marL="0" indent="0">
              <a:buNone/>
            </a:pPr>
            <a:r>
              <a:rPr lang="en-US" sz="1300" dirty="0">
                <a:solidFill>
                  <a:srgbClr val="E5E7EB"/>
                </a:solidFill>
                <a:latin typeface="Arial" pitchFamily="34" charset="0"/>
                <a:ea typeface="Arial" pitchFamily="34" charset="-122"/>
                <a:cs typeface="Arial" pitchFamily="34" charset="-120"/>
              </a:rPr>
              <a:t>Ευάγγελος Φουρτουλάκης</a:t>
            </a:r>
            <a:endParaRPr lang="en-US" sz="1300" dirty="0"/>
          </a:p>
          <a:p>
            <a:pPr marL="0" indent="0">
              <a:buNone/>
            </a:pPr>
            <a:r>
              <a:rPr lang="en-US" sz="1300" dirty="0">
                <a:solidFill>
                  <a:srgbClr val="E5E7EB"/>
                </a:solidFill>
                <a:latin typeface="Arial" pitchFamily="34" charset="0"/>
                <a:ea typeface="Arial" pitchFamily="34" charset="-122"/>
                <a:cs typeface="Arial" pitchFamily="34" charset="-120"/>
              </a:rPr>
              <a:t>Παναγιώτης Κωστούλας</a:t>
            </a:r>
            <a:endParaRPr lang="en-US" sz="1300" dirty="0"/>
          </a:p>
          <a:p>
            <a:pPr marL="0" indent="0">
              <a:buNone/>
            </a:pPr>
            <a:r>
              <a:rPr lang="en-US" sz="1300" dirty="0">
                <a:solidFill>
                  <a:srgbClr val="E5E7EB"/>
                </a:solidFill>
                <a:latin typeface="Arial" pitchFamily="34" charset="0"/>
                <a:ea typeface="Arial" pitchFamily="34" charset="-122"/>
                <a:cs typeface="Arial" pitchFamily="34" charset="-120"/>
              </a:rPr>
              <a:t>Κωνσταντίνος Φρίξου</a:t>
            </a:r>
            <a:endParaRPr lang="en-US" sz="1300" dirty="0"/>
          </a:p>
          <a:p>
            <a:pPr marL="0" indent="0">
              <a:buNone/>
            </a:pPr>
            <a:r>
              <a:rPr lang="en-US" sz="1300" dirty="0">
                <a:solidFill>
                  <a:srgbClr val="E5E7EB"/>
                </a:solidFill>
                <a:latin typeface="Arial" pitchFamily="34" charset="0"/>
                <a:ea typeface="Arial" pitchFamily="34" charset="-122"/>
                <a:cs typeface="Arial" pitchFamily="34" charset="-120"/>
              </a:rPr>
              <a:t>Κωνσταντίνος Τσαμπέλογλου</a:t>
            </a:r>
            <a:endParaRPr lang="en-US" sz="1300" dirty="0"/>
          </a:p>
        </p:txBody>
      </p:sp>
      <p:pic>
        <p:nvPicPr>
          <p:cNvPr id="8" name="Image 0" descr="/mnt/data/S01_transactions_main.png"/>
          <p:cNvPicPr>
            <a:picLocks noChangeAspect="1"/>
          </p:cNvPicPr>
          <p:nvPr/>
        </p:nvPicPr>
        <p:blipFill>
          <a:blip r:embed="rId3"/>
          <a:stretch>
            <a:fillRect/>
          </a:stretch>
        </p:blipFill>
        <p:spPr>
          <a:xfrm>
            <a:off x="6537960" y="807396"/>
            <a:ext cx="5074920" cy="3094368"/>
          </a:xfrm>
          <a:prstGeom prst="rect">
            <a:avLst/>
          </a:prstGeom>
        </p:spPr>
      </p:pic>
      <p:sp>
        <p:nvSpPr>
          <p:cNvPr id="9" name="Shape 6"/>
          <p:cNvSpPr/>
          <p:nvPr/>
        </p:nvSpPr>
        <p:spPr>
          <a:xfrm>
            <a:off x="6537960" y="777240"/>
            <a:ext cx="5074920" cy="3154680"/>
          </a:xfrm>
          <a:prstGeom prst="rect">
            <a:avLst/>
          </a:prstGeom>
          <a:solidFill>
            <a:srgbClr val="FFFFFF">
              <a:alpha val="0"/>
            </a:srgbClr>
          </a:solidFill>
          <a:ln w="7620">
            <a:solidFill>
              <a:srgbClr val="334155"/>
            </a:solidFill>
            <a:prstDash val="solid"/>
          </a:ln>
        </p:spPr>
      </p:sp>
      <p:sp>
        <p:nvSpPr>
          <p:cNvPr id="10" name="Text 7"/>
          <p:cNvSpPr/>
          <p:nvPr/>
        </p:nvSpPr>
        <p:spPr>
          <a:xfrm>
            <a:off x="6537960" y="4160520"/>
            <a:ext cx="5074920" cy="292608"/>
          </a:xfrm>
          <a:prstGeom prst="rect">
            <a:avLst/>
          </a:prstGeom>
          <a:noFill/>
          <a:ln/>
        </p:spPr>
        <p:txBody>
          <a:bodyPr wrap="square" lIns="0" tIns="0" rIns="0" bIns="0" rtlCol="0" anchor="ctr"/>
          <a:lstStyle/>
          <a:p>
            <a:pPr marL="0" indent="0" algn="ctr">
              <a:buNone/>
            </a:pPr>
            <a:r>
              <a:rPr lang="en-US" sz="1200" dirty="0">
                <a:solidFill>
                  <a:srgbClr val="CBD5E1"/>
                </a:solidFill>
                <a:latin typeface="Arial" pitchFamily="34" charset="0"/>
                <a:ea typeface="Arial" pitchFamily="34" charset="-122"/>
                <a:cs typeface="Arial" pitchFamily="34" charset="-120"/>
              </a:rPr>
              <a:t>Desktop εφαρμογή σε Python / Tkinter / SQLite</a:t>
            </a:r>
            <a:endParaRPr lang="en-US" sz="1200" dirty="0"/>
          </a:p>
        </p:txBody>
      </p:sp>
      <p:sp>
        <p:nvSpPr>
          <p:cNvPr id="11" name="Text 8"/>
          <p:cNvSpPr/>
          <p:nvPr/>
        </p:nvSpPr>
        <p:spPr>
          <a:xfrm>
            <a:off x="612648" y="5440680"/>
            <a:ext cx="3291840" cy="237744"/>
          </a:xfrm>
          <a:prstGeom prst="rect">
            <a:avLst/>
          </a:prstGeom>
          <a:solidFill>
            <a:srgbClr val="24304A"/>
          </a:solidFill>
          <a:ln/>
        </p:spPr>
        <p:txBody>
          <a:bodyPr wrap="square" lIns="508" tIns="508" rIns="508" bIns="508" rtlCol="0" anchor="ctr">
            <a:normAutofit/>
          </a:bodyPr>
          <a:lstStyle/>
          <a:p>
            <a:pPr marL="0" indent="0" algn="ctr">
              <a:buNone/>
            </a:pPr>
            <a:r>
              <a:rPr lang="en-US" sz="950" b="1" dirty="0">
                <a:solidFill>
                  <a:srgbClr val="FFFFFF"/>
                </a:solidFill>
                <a:latin typeface="Arial" pitchFamily="34" charset="0"/>
                <a:ea typeface="Arial" pitchFamily="34" charset="-122"/>
                <a:cs typeface="Arial" pitchFamily="34" charset="-120"/>
              </a:rPr>
              <a:t>Τελική παρουσίαση ομαδικής εργασίας</a:t>
            </a:r>
            <a:endParaRPr lang="en-US" sz="950" dirty="0"/>
          </a:p>
        </p:txBody>
      </p:sp>
      <p:sp>
        <p:nvSpPr>
          <p:cNvPr id="12" name="Text 9"/>
          <p:cNvSpPr/>
          <p:nvPr/>
        </p:nvSpPr>
        <p:spPr>
          <a:xfrm>
            <a:off x="502920" y="6473952"/>
            <a:ext cx="6400800" cy="164592"/>
          </a:xfrm>
          <a:prstGeom prst="rect">
            <a:avLst/>
          </a:prstGeom>
          <a:noFill/>
          <a:ln/>
        </p:spPr>
        <p:txBody>
          <a:bodyPr wrap="square" lIns="0" tIns="0" rIns="0" bIns="0" rtlCol="0" anchor="ctr"/>
          <a:lstStyle/>
          <a:p>
            <a:pPr marL="0" indent="0">
              <a:buNone/>
            </a:pPr>
            <a:r>
              <a:rPr lang="en-US" sz="750" dirty="0">
                <a:solidFill>
                  <a:srgbClr val="94A3B8"/>
                </a:solidFill>
                <a:latin typeface="Arial" pitchFamily="34" charset="0"/>
                <a:ea typeface="Arial" pitchFamily="34" charset="-122"/>
                <a:cs typeface="Arial" pitchFamily="34" charset="-120"/>
              </a:rPr>
              <a:t>ΠΛΗΠΡΟ - Project 06 | Personal Finance Manager</a:t>
            </a:r>
            <a:endParaRPr lang="en-US" sz="750" dirty="0"/>
          </a:p>
        </p:txBody>
      </p:sp>
      <p:sp>
        <p:nvSpPr>
          <p:cNvPr id="13" name="Text 10"/>
          <p:cNvSpPr/>
          <p:nvPr/>
        </p:nvSpPr>
        <p:spPr>
          <a:xfrm>
            <a:off x="11292840" y="6428232"/>
            <a:ext cx="347472" cy="228600"/>
          </a:xfrm>
          <a:prstGeom prst="rect">
            <a:avLst/>
          </a:prstGeom>
          <a:noFill/>
          <a:ln/>
        </p:spPr>
        <p:txBody>
          <a:bodyPr wrap="square" lIns="0" tIns="0" rIns="0" bIns="0" rtlCol="0" anchor="ctr"/>
          <a:lstStyle/>
          <a:p>
            <a:pPr marL="0" indent="0" algn="ctr">
              <a:buNone/>
            </a:pPr>
            <a:r>
              <a:rPr lang="en-US" sz="850" b="1" dirty="0">
                <a:solidFill>
                  <a:srgbClr val="60A5FA"/>
                </a:solidFill>
                <a:latin typeface="Arial" pitchFamily="34" charset="0"/>
                <a:ea typeface="Arial" pitchFamily="34" charset="-122"/>
                <a:cs typeface="Arial" pitchFamily="34" charset="-120"/>
              </a:rPr>
              <a:t>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02920" y="320040"/>
            <a:ext cx="8412480" cy="384048"/>
          </a:xfrm>
          <a:prstGeom prst="rect">
            <a:avLst/>
          </a:prstGeom>
          <a:noFill/>
          <a:ln/>
        </p:spPr>
        <p:txBody>
          <a:bodyPr wrap="square" lIns="0" tIns="0" rIns="0" bIns="0" rtlCol="0" anchor="ctr"/>
          <a:lstStyle/>
          <a:p>
            <a:pPr marL="0" indent="0">
              <a:buNone/>
            </a:pPr>
            <a:r>
              <a:rPr lang="en-US" sz="2400" b="1" dirty="0">
                <a:solidFill>
                  <a:srgbClr val="F8FAFC"/>
                </a:solidFill>
                <a:latin typeface="Arial" pitchFamily="34" charset="0"/>
                <a:ea typeface="Arial" pitchFamily="34" charset="-122"/>
                <a:cs typeface="Arial" pitchFamily="34" charset="-120"/>
              </a:rPr>
              <a:t>Σκοπός εφαρμογής</a:t>
            </a:r>
            <a:endParaRPr lang="en-US" sz="2400" dirty="0"/>
          </a:p>
        </p:txBody>
      </p:sp>
      <p:sp>
        <p:nvSpPr>
          <p:cNvPr id="3" name="Text 1"/>
          <p:cNvSpPr/>
          <p:nvPr/>
        </p:nvSpPr>
        <p:spPr>
          <a:xfrm>
            <a:off x="521208" y="749808"/>
            <a:ext cx="8046720" cy="219456"/>
          </a:xfrm>
          <a:prstGeom prst="rect">
            <a:avLst/>
          </a:prstGeom>
          <a:noFill/>
          <a:ln/>
        </p:spPr>
        <p:txBody>
          <a:bodyPr wrap="square" lIns="0" tIns="0" rIns="0" bIns="0" rtlCol="0" anchor="ctr"/>
          <a:lstStyle/>
          <a:p>
            <a:pPr marL="0" indent="0">
              <a:buNone/>
            </a:pPr>
            <a:r>
              <a:rPr lang="en-US" sz="1050" dirty="0">
                <a:solidFill>
                  <a:srgbClr val="94A3B8"/>
                </a:solidFill>
                <a:latin typeface="Arial" pitchFamily="34" charset="0"/>
                <a:ea typeface="Arial" pitchFamily="34" charset="-122"/>
                <a:cs typeface="Arial" pitchFamily="34" charset="-120"/>
              </a:rPr>
              <a:t>Τι πρόβλημα λύνει και ποια είναι η βασική ιδέα</a:t>
            </a:r>
            <a:endParaRPr lang="en-US" sz="1050" dirty="0"/>
          </a:p>
        </p:txBody>
      </p:sp>
      <p:sp>
        <p:nvSpPr>
          <p:cNvPr id="4" name="Shape 2"/>
          <p:cNvSpPr/>
          <p:nvPr/>
        </p:nvSpPr>
        <p:spPr>
          <a:xfrm>
            <a:off x="502920" y="1078992"/>
            <a:ext cx="11201400" cy="0"/>
          </a:xfrm>
          <a:prstGeom prst="line">
            <a:avLst/>
          </a:prstGeom>
          <a:noFill/>
          <a:ln w="10160">
            <a:solidFill>
              <a:srgbClr val="334155"/>
            </a:solidFill>
            <a:prstDash val="solid"/>
          </a:ln>
        </p:spPr>
      </p:sp>
      <p:sp>
        <p:nvSpPr>
          <p:cNvPr id="5" name="Shape 3"/>
          <p:cNvSpPr/>
          <p:nvPr/>
        </p:nvSpPr>
        <p:spPr>
          <a:xfrm>
            <a:off x="502920" y="1078992"/>
            <a:ext cx="1234440" cy="0"/>
          </a:xfrm>
          <a:prstGeom prst="line">
            <a:avLst/>
          </a:prstGeom>
          <a:noFill/>
          <a:ln w="30480">
            <a:solidFill>
              <a:srgbClr val="3B82F6"/>
            </a:solidFill>
            <a:prstDash val="solid"/>
          </a:ln>
        </p:spPr>
      </p:sp>
      <p:sp>
        <p:nvSpPr>
          <p:cNvPr id="6" name="Text 4"/>
          <p:cNvSpPr/>
          <p:nvPr/>
        </p:nvSpPr>
        <p:spPr>
          <a:xfrm>
            <a:off x="502920" y="6473952"/>
            <a:ext cx="6400800" cy="164592"/>
          </a:xfrm>
          <a:prstGeom prst="rect">
            <a:avLst/>
          </a:prstGeom>
          <a:noFill/>
          <a:ln/>
        </p:spPr>
        <p:txBody>
          <a:bodyPr wrap="square" lIns="0" tIns="0" rIns="0" bIns="0" rtlCol="0" anchor="ctr"/>
          <a:lstStyle/>
          <a:p>
            <a:pPr marL="0" indent="0">
              <a:buNone/>
            </a:pPr>
            <a:r>
              <a:rPr lang="en-US" sz="750" dirty="0">
                <a:solidFill>
                  <a:srgbClr val="94A3B8"/>
                </a:solidFill>
                <a:latin typeface="Arial" pitchFamily="34" charset="0"/>
                <a:ea typeface="Arial" pitchFamily="34" charset="-122"/>
                <a:cs typeface="Arial" pitchFamily="34" charset="-120"/>
              </a:rPr>
              <a:t>ΠΛΗΠΡΟ - Project 06 | Personal Finance Manager</a:t>
            </a:r>
            <a:endParaRPr lang="en-US" sz="750" dirty="0"/>
          </a:p>
        </p:txBody>
      </p:sp>
      <p:sp>
        <p:nvSpPr>
          <p:cNvPr id="7" name="Text 5"/>
          <p:cNvSpPr/>
          <p:nvPr/>
        </p:nvSpPr>
        <p:spPr>
          <a:xfrm>
            <a:off x="11292840" y="6428232"/>
            <a:ext cx="347472" cy="228600"/>
          </a:xfrm>
          <a:prstGeom prst="rect">
            <a:avLst/>
          </a:prstGeom>
          <a:noFill/>
          <a:ln/>
        </p:spPr>
        <p:txBody>
          <a:bodyPr wrap="square" lIns="0" tIns="0" rIns="0" bIns="0" rtlCol="0" anchor="ctr"/>
          <a:lstStyle/>
          <a:p>
            <a:pPr marL="0" indent="0" algn="ctr">
              <a:buNone/>
            </a:pPr>
            <a:r>
              <a:rPr lang="en-US" sz="850" b="1" dirty="0">
                <a:solidFill>
                  <a:srgbClr val="60A5FA"/>
                </a:solidFill>
                <a:latin typeface="Arial" pitchFamily="34" charset="0"/>
                <a:ea typeface="Arial" pitchFamily="34" charset="-122"/>
                <a:cs typeface="Arial" pitchFamily="34" charset="-120"/>
              </a:rPr>
              <a:t>02</a:t>
            </a:r>
            <a:endParaRPr lang="en-US" sz="850" dirty="0"/>
          </a:p>
        </p:txBody>
      </p:sp>
      <p:sp>
        <p:nvSpPr>
          <p:cNvPr id="8" name="Text 6"/>
          <p:cNvSpPr/>
          <p:nvPr/>
        </p:nvSpPr>
        <p:spPr>
          <a:xfrm>
            <a:off x="685800" y="1417320"/>
            <a:ext cx="5166360" cy="2560320"/>
          </a:xfrm>
          <a:prstGeom prst="rect">
            <a:avLst/>
          </a:prstGeom>
          <a:noFill/>
          <a:ln/>
        </p:spPr>
        <p:txBody>
          <a:bodyPr wrap="square" lIns="635" tIns="635" rIns="635" bIns="635" rtlCol="0" anchor="t">
            <a:normAutofit/>
          </a:bodyPr>
          <a:lstStyle/>
          <a:p>
            <a:pPr marL="0" indent="0">
              <a:buNone/>
            </a:pPr>
            <a:r>
              <a:rPr lang="en-US" sz="1600" b="1" dirty="0">
                <a:solidFill>
                  <a:srgbClr val="E5E7EB"/>
                </a:solidFill>
                <a:latin typeface="Arial" pitchFamily="34" charset="0"/>
                <a:ea typeface="Arial" pitchFamily="34" charset="-122"/>
                <a:cs typeface="Arial" pitchFamily="34" charset="-120"/>
              </a:rPr>
              <a:t>Η εφαρμογή βοηθά τον χρήστη να οργανώνει καθημερινά έσοδα και έξοδα.</a:t>
            </a:r>
            <a:endParaRPr lang="el-GR" sz="1600" b="1" dirty="0">
              <a:solidFill>
                <a:srgbClr val="E5E7EB"/>
              </a:solidFill>
              <a:latin typeface="Arial" pitchFamily="34" charset="0"/>
              <a:ea typeface="Arial" pitchFamily="34" charset="-122"/>
              <a:cs typeface="Arial" pitchFamily="34" charset="-120"/>
            </a:endParaRPr>
          </a:p>
          <a:p>
            <a:pPr marL="0" indent="0">
              <a:buNone/>
            </a:pPr>
            <a:endParaRPr lang="en-US" sz="1440" dirty="0"/>
          </a:p>
          <a:p>
            <a:pPr marL="285750" indent="-285750">
              <a:buFont typeface="Wingdings" panose="05000000000000000000" pitchFamily="2" charset="2"/>
              <a:buChar char="ü"/>
            </a:pPr>
            <a:r>
              <a:rPr lang="en-US" sz="1440" dirty="0">
                <a:solidFill>
                  <a:srgbClr val="E5E7EB"/>
                </a:solidFill>
                <a:latin typeface="Arial" pitchFamily="34" charset="0"/>
                <a:ea typeface="Arial" pitchFamily="34" charset="-122"/>
                <a:cs typeface="Arial" pitchFamily="34" charset="-120"/>
              </a:rPr>
              <a:t>Καταχώρηση συναλλαγών με ημερομηνία, κατηγορία, ποσό και περιγραφή.</a:t>
            </a:r>
            <a:endParaRPr lang="en-US" sz="1440" dirty="0"/>
          </a:p>
          <a:p>
            <a:pPr marL="285750" indent="-285750">
              <a:buFont typeface="Wingdings" panose="05000000000000000000" pitchFamily="2" charset="2"/>
              <a:buChar char="ü"/>
            </a:pPr>
            <a:r>
              <a:rPr lang="en-US" sz="1440" dirty="0">
                <a:solidFill>
                  <a:srgbClr val="E5E7EB"/>
                </a:solidFill>
                <a:latin typeface="Arial" pitchFamily="34" charset="0"/>
                <a:ea typeface="Arial" pitchFamily="34" charset="-122"/>
                <a:cs typeface="Arial" pitchFamily="34" charset="-120"/>
              </a:rPr>
              <a:t>Παρακολούθηση μηνιαίου αποτελέσματος με έσοδα, έξοδα και ισοζύγιο.</a:t>
            </a:r>
            <a:endParaRPr lang="en-US" sz="1440" dirty="0"/>
          </a:p>
          <a:p>
            <a:pPr marL="285750" indent="-285750">
              <a:buFont typeface="Wingdings" panose="05000000000000000000" pitchFamily="2" charset="2"/>
              <a:buChar char="ü"/>
            </a:pPr>
            <a:r>
              <a:rPr lang="en-US" sz="1440" dirty="0">
                <a:solidFill>
                  <a:srgbClr val="E5E7EB"/>
                </a:solidFill>
                <a:latin typeface="Arial" pitchFamily="34" charset="0"/>
                <a:ea typeface="Arial" pitchFamily="34" charset="-122"/>
                <a:cs typeface="Arial" pitchFamily="34" charset="-120"/>
              </a:rPr>
              <a:t>Ανάλυση οικονομικής εικόνας με γραφήματα και μηνιαίες αναφορές.</a:t>
            </a:r>
            <a:endParaRPr lang="en-US" sz="1440" dirty="0"/>
          </a:p>
          <a:p>
            <a:pPr marL="285750" indent="-285750">
              <a:buFont typeface="Wingdings" panose="05000000000000000000" pitchFamily="2" charset="2"/>
              <a:buChar char="ü"/>
            </a:pPr>
            <a:r>
              <a:rPr lang="en-US" sz="1440" dirty="0">
                <a:solidFill>
                  <a:srgbClr val="E5E7EB"/>
                </a:solidFill>
                <a:latin typeface="Arial" pitchFamily="34" charset="0"/>
                <a:ea typeface="Arial" pitchFamily="34" charset="-122"/>
                <a:cs typeface="Arial" pitchFamily="34" charset="-120"/>
              </a:rPr>
              <a:t>Τοπική λειτουργία χωρίς server, με δεδομένα σε SQLite βάση.</a:t>
            </a:r>
            <a:endParaRPr lang="en-US" sz="1440" dirty="0"/>
          </a:p>
        </p:txBody>
      </p:sp>
      <p:sp>
        <p:nvSpPr>
          <p:cNvPr id="9" name="Text 7"/>
          <p:cNvSpPr/>
          <p:nvPr/>
        </p:nvSpPr>
        <p:spPr>
          <a:xfrm>
            <a:off x="685800" y="4617720"/>
            <a:ext cx="2468880" cy="228600"/>
          </a:xfrm>
          <a:prstGeom prst="rect">
            <a:avLst/>
          </a:prstGeom>
          <a:noFill/>
          <a:ln/>
        </p:spPr>
        <p:txBody>
          <a:bodyPr wrap="square" lIns="0" tIns="0" rIns="0" bIns="0" rtlCol="0" anchor="ctr"/>
          <a:lstStyle/>
          <a:p>
            <a:pPr marL="0" indent="0">
              <a:buNone/>
            </a:pPr>
            <a:r>
              <a:rPr lang="en-US" sz="1200" b="1" dirty="0">
                <a:solidFill>
                  <a:srgbClr val="60A5FA"/>
                </a:solidFill>
                <a:latin typeface="Arial" pitchFamily="34" charset="0"/>
                <a:ea typeface="Arial" pitchFamily="34" charset="-122"/>
                <a:cs typeface="Arial" pitchFamily="34" charset="-120"/>
              </a:rPr>
              <a:t>Βασική ροή χρήσης</a:t>
            </a:r>
            <a:endParaRPr lang="en-US" sz="1200" dirty="0"/>
          </a:p>
        </p:txBody>
      </p:sp>
      <p:sp>
        <p:nvSpPr>
          <p:cNvPr id="10" name="Text 8"/>
          <p:cNvSpPr/>
          <p:nvPr/>
        </p:nvSpPr>
        <p:spPr>
          <a:xfrm>
            <a:off x="685800" y="5010912"/>
            <a:ext cx="1691640" cy="237744"/>
          </a:xfrm>
          <a:prstGeom prst="rect">
            <a:avLst/>
          </a:prstGeom>
          <a:solidFill>
            <a:srgbClr val="3B82F6"/>
          </a:solidFill>
          <a:ln/>
        </p:spPr>
        <p:txBody>
          <a:bodyPr wrap="square" lIns="508" tIns="508" rIns="508" bIns="508" rtlCol="0" anchor="ctr">
            <a:normAutofit/>
          </a:bodyPr>
          <a:lstStyle/>
          <a:p>
            <a:pPr marL="0" indent="0" algn="ctr">
              <a:buNone/>
            </a:pPr>
            <a:r>
              <a:rPr lang="en-US" sz="950" b="1" dirty="0">
                <a:solidFill>
                  <a:srgbClr val="FFFFFF"/>
                </a:solidFill>
                <a:latin typeface="Arial" pitchFamily="34" charset="0"/>
                <a:ea typeface="Arial" pitchFamily="34" charset="-122"/>
                <a:cs typeface="Arial" pitchFamily="34" charset="-120"/>
              </a:rPr>
              <a:t>1. Καταχώρηση</a:t>
            </a:r>
            <a:endParaRPr lang="en-US" sz="950" dirty="0"/>
          </a:p>
        </p:txBody>
      </p:sp>
      <p:sp>
        <p:nvSpPr>
          <p:cNvPr id="11" name="Text 9"/>
          <p:cNvSpPr/>
          <p:nvPr/>
        </p:nvSpPr>
        <p:spPr>
          <a:xfrm>
            <a:off x="2697480" y="5010912"/>
            <a:ext cx="1920240" cy="237744"/>
          </a:xfrm>
          <a:prstGeom prst="rect">
            <a:avLst/>
          </a:prstGeom>
          <a:solidFill>
            <a:srgbClr val="3B82F6"/>
          </a:solidFill>
          <a:ln/>
        </p:spPr>
        <p:txBody>
          <a:bodyPr wrap="square" lIns="508" tIns="508" rIns="508" bIns="508" rtlCol="0" anchor="ctr">
            <a:normAutofit/>
          </a:bodyPr>
          <a:lstStyle/>
          <a:p>
            <a:pPr marL="0" indent="0" algn="ctr">
              <a:buNone/>
            </a:pPr>
            <a:r>
              <a:rPr lang="en-US" sz="950" b="1" dirty="0">
                <a:solidFill>
                  <a:srgbClr val="FFFFFF"/>
                </a:solidFill>
                <a:latin typeface="Arial" pitchFamily="34" charset="0"/>
                <a:ea typeface="Arial" pitchFamily="34" charset="-122"/>
                <a:cs typeface="Arial" pitchFamily="34" charset="-120"/>
              </a:rPr>
              <a:t>2. Παρακολούθηση</a:t>
            </a:r>
            <a:endParaRPr lang="en-US" sz="950" dirty="0"/>
          </a:p>
        </p:txBody>
      </p:sp>
      <p:sp>
        <p:nvSpPr>
          <p:cNvPr id="12" name="Text 10"/>
          <p:cNvSpPr/>
          <p:nvPr/>
        </p:nvSpPr>
        <p:spPr>
          <a:xfrm>
            <a:off x="4937760" y="5010912"/>
            <a:ext cx="1600200" cy="237744"/>
          </a:xfrm>
          <a:prstGeom prst="rect">
            <a:avLst/>
          </a:prstGeom>
          <a:solidFill>
            <a:srgbClr val="3B82F6"/>
          </a:solidFill>
          <a:ln/>
        </p:spPr>
        <p:txBody>
          <a:bodyPr wrap="square" lIns="508" tIns="508" rIns="508" bIns="508" rtlCol="0" anchor="ctr">
            <a:normAutofit/>
          </a:bodyPr>
          <a:lstStyle/>
          <a:p>
            <a:pPr marL="0" indent="0" algn="ctr">
              <a:buNone/>
            </a:pPr>
            <a:r>
              <a:rPr lang="en-US" sz="950" b="1" dirty="0">
                <a:solidFill>
                  <a:srgbClr val="FFFFFF"/>
                </a:solidFill>
                <a:latin typeface="Arial" pitchFamily="34" charset="0"/>
                <a:ea typeface="Arial" pitchFamily="34" charset="-122"/>
                <a:cs typeface="Arial" pitchFamily="34" charset="-120"/>
              </a:rPr>
              <a:t>3. Ανάλυση</a:t>
            </a:r>
            <a:endParaRPr lang="en-US" sz="950" dirty="0"/>
          </a:p>
        </p:txBody>
      </p:sp>
      <p:sp>
        <p:nvSpPr>
          <p:cNvPr id="13" name="Text 11"/>
          <p:cNvSpPr/>
          <p:nvPr/>
        </p:nvSpPr>
        <p:spPr>
          <a:xfrm>
            <a:off x="6858000" y="5010912"/>
            <a:ext cx="1325880" cy="237744"/>
          </a:xfrm>
          <a:prstGeom prst="rect">
            <a:avLst/>
          </a:prstGeom>
          <a:solidFill>
            <a:srgbClr val="3B82F6"/>
          </a:solidFill>
          <a:ln/>
        </p:spPr>
        <p:txBody>
          <a:bodyPr wrap="square" lIns="508" tIns="508" rIns="508" bIns="508" rtlCol="0" anchor="ctr">
            <a:normAutofit/>
          </a:bodyPr>
          <a:lstStyle/>
          <a:p>
            <a:pPr marL="0" indent="0" algn="ctr">
              <a:buNone/>
            </a:pPr>
            <a:r>
              <a:rPr lang="en-US" sz="950" b="1" dirty="0">
                <a:solidFill>
                  <a:srgbClr val="FFFFFF"/>
                </a:solidFill>
                <a:latin typeface="Arial" pitchFamily="34" charset="0"/>
                <a:ea typeface="Arial" pitchFamily="34" charset="-122"/>
                <a:cs typeface="Arial" pitchFamily="34" charset="-120"/>
              </a:rPr>
              <a:t>4. Export</a:t>
            </a:r>
            <a:endParaRPr lang="en-US" sz="950" dirty="0"/>
          </a:p>
        </p:txBody>
      </p:sp>
      <p:pic>
        <p:nvPicPr>
          <p:cNvPr id="14" name="Image 0" descr="/mnt/data/S02_transactions_filters.png"/>
          <p:cNvPicPr>
            <a:picLocks noChangeAspect="1"/>
          </p:cNvPicPr>
          <p:nvPr/>
        </p:nvPicPr>
        <p:blipFill>
          <a:blip r:embed="rId3"/>
          <a:stretch>
            <a:fillRect/>
          </a:stretch>
        </p:blipFill>
        <p:spPr>
          <a:xfrm>
            <a:off x="6439132" y="1417320"/>
            <a:ext cx="4723936" cy="2880360"/>
          </a:xfrm>
          <a:prstGeom prst="rect">
            <a:avLst/>
          </a:prstGeom>
        </p:spPr>
      </p:pic>
      <p:sp>
        <p:nvSpPr>
          <p:cNvPr id="15" name="Shape 12"/>
          <p:cNvSpPr/>
          <p:nvPr/>
        </p:nvSpPr>
        <p:spPr>
          <a:xfrm>
            <a:off x="6172200" y="1417320"/>
            <a:ext cx="5257800" cy="2880360"/>
          </a:xfrm>
          <a:prstGeom prst="rect">
            <a:avLst/>
          </a:prstGeom>
          <a:solidFill>
            <a:srgbClr val="FFFFFF">
              <a:alpha val="0"/>
            </a:srgbClr>
          </a:solidFill>
          <a:ln w="7620">
            <a:solidFill>
              <a:srgbClr val="334155"/>
            </a:solidFill>
            <a:prstDash val="solid"/>
          </a:ln>
        </p:spPr>
      </p:sp>
      <p:sp>
        <p:nvSpPr>
          <p:cNvPr id="16" name="Text 13"/>
          <p:cNvSpPr/>
          <p:nvPr/>
        </p:nvSpPr>
        <p:spPr>
          <a:xfrm>
            <a:off x="6172200" y="4443984"/>
            <a:ext cx="5257800" cy="228600"/>
          </a:xfrm>
          <a:prstGeom prst="rect">
            <a:avLst/>
          </a:prstGeom>
          <a:noFill/>
          <a:ln/>
        </p:spPr>
        <p:txBody>
          <a:bodyPr wrap="square" lIns="0" tIns="0" rIns="0" bIns="0" rtlCol="0" anchor="ctr"/>
          <a:lstStyle/>
          <a:p>
            <a:pPr marL="0" indent="0" algn="ctr">
              <a:buNone/>
            </a:pPr>
            <a:r>
              <a:rPr lang="en-US" sz="1050" dirty="0">
                <a:solidFill>
                  <a:srgbClr val="CBD5E1"/>
                </a:solidFill>
                <a:latin typeface="Arial" pitchFamily="34" charset="0"/>
                <a:ea typeface="Arial" pitchFamily="34" charset="-122"/>
                <a:cs typeface="Arial" pitchFamily="34" charset="-120"/>
              </a:rPr>
              <a:t>Παράδειγμα: φίλτρα συναλλαγών με Από / Έως και Κατηγορία</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02920" y="320040"/>
            <a:ext cx="8412480" cy="384048"/>
          </a:xfrm>
          <a:prstGeom prst="rect">
            <a:avLst/>
          </a:prstGeom>
          <a:noFill/>
          <a:ln/>
        </p:spPr>
        <p:txBody>
          <a:bodyPr wrap="square" lIns="0" tIns="0" rIns="0" bIns="0" rtlCol="0" anchor="ctr"/>
          <a:lstStyle/>
          <a:p>
            <a:pPr marL="0" indent="0">
              <a:buNone/>
            </a:pPr>
            <a:r>
              <a:rPr lang="en-US" sz="2400" b="1" dirty="0">
                <a:solidFill>
                  <a:srgbClr val="F8FAFC"/>
                </a:solidFill>
                <a:latin typeface="Arial" pitchFamily="34" charset="0"/>
                <a:ea typeface="Arial" pitchFamily="34" charset="-122"/>
                <a:cs typeface="Arial" pitchFamily="34" charset="-120"/>
              </a:rPr>
              <a:t>Απαιτήσεις εκφώνησης και κάλυψη</a:t>
            </a:r>
            <a:endParaRPr lang="en-US" sz="2400" dirty="0"/>
          </a:p>
        </p:txBody>
      </p:sp>
      <p:sp>
        <p:nvSpPr>
          <p:cNvPr id="3" name="Text 1"/>
          <p:cNvSpPr/>
          <p:nvPr/>
        </p:nvSpPr>
        <p:spPr>
          <a:xfrm>
            <a:off x="521208" y="749808"/>
            <a:ext cx="8046720" cy="219456"/>
          </a:xfrm>
          <a:prstGeom prst="rect">
            <a:avLst/>
          </a:prstGeom>
          <a:noFill/>
          <a:ln/>
        </p:spPr>
        <p:txBody>
          <a:bodyPr wrap="square" lIns="0" tIns="0" rIns="0" bIns="0" rtlCol="0" anchor="ctr"/>
          <a:lstStyle/>
          <a:p>
            <a:pPr marL="0" indent="0">
              <a:buNone/>
            </a:pPr>
            <a:r>
              <a:rPr lang="en-US" sz="1050" dirty="0">
                <a:solidFill>
                  <a:srgbClr val="94A3B8"/>
                </a:solidFill>
                <a:latin typeface="Arial" pitchFamily="34" charset="0"/>
                <a:ea typeface="Arial" pitchFamily="34" charset="-122"/>
                <a:cs typeface="Arial" pitchFamily="34" charset="-120"/>
              </a:rPr>
              <a:t>Σύντομη αντιστοίχιση απαιτήσεων με υλοποίηση</a:t>
            </a:r>
            <a:endParaRPr lang="en-US" sz="1050" dirty="0"/>
          </a:p>
        </p:txBody>
      </p:sp>
      <p:sp>
        <p:nvSpPr>
          <p:cNvPr id="4" name="Shape 2"/>
          <p:cNvSpPr/>
          <p:nvPr/>
        </p:nvSpPr>
        <p:spPr>
          <a:xfrm>
            <a:off x="502920" y="1078992"/>
            <a:ext cx="11201400" cy="0"/>
          </a:xfrm>
          <a:prstGeom prst="line">
            <a:avLst/>
          </a:prstGeom>
          <a:noFill/>
          <a:ln w="10160">
            <a:solidFill>
              <a:srgbClr val="334155"/>
            </a:solidFill>
            <a:prstDash val="solid"/>
          </a:ln>
        </p:spPr>
      </p:sp>
      <p:sp>
        <p:nvSpPr>
          <p:cNvPr id="5" name="Shape 3"/>
          <p:cNvSpPr/>
          <p:nvPr/>
        </p:nvSpPr>
        <p:spPr>
          <a:xfrm>
            <a:off x="502920" y="1078992"/>
            <a:ext cx="1234440" cy="0"/>
          </a:xfrm>
          <a:prstGeom prst="line">
            <a:avLst/>
          </a:prstGeom>
          <a:noFill/>
          <a:ln w="30480">
            <a:solidFill>
              <a:srgbClr val="3B82F6"/>
            </a:solidFill>
            <a:prstDash val="solid"/>
          </a:ln>
        </p:spPr>
      </p:sp>
      <p:sp>
        <p:nvSpPr>
          <p:cNvPr id="6" name="Text 4"/>
          <p:cNvSpPr/>
          <p:nvPr/>
        </p:nvSpPr>
        <p:spPr>
          <a:xfrm>
            <a:off x="502920" y="6473952"/>
            <a:ext cx="6400800" cy="164592"/>
          </a:xfrm>
          <a:prstGeom prst="rect">
            <a:avLst/>
          </a:prstGeom>
          <a:noFill/>
          <a:ln/>
        </p:spPr>
        <p:txBody>
          <a:bodyPr wrap="square" lIns="0" tIns="0" rIns="0" bIns="0" rtlCol="0" anchor="ctr"/>
          <a:lstStyle/>
          <a:p>
            <a:pPr marL="0" indent="0">
              <a:buNone/>
            </a:pPr>
            <a:r>
              <a:rPr lang="en-US" sz="750" dirty="0">
                <a:solidFill>
                  <a:srgbClr val="94A3B8"/>
                </a:solidFill>
                <a:latin typeface="Arial" pitchFamily="34" charset="0"/>
                <a:ea typeface="Arial" pitchFamily="34" charset="-122"/>
                <a:cs typeface="Arial" pitchFamily="34" charset="-120"/>
              </a:rPr>
              <a:t>ΠΛΗΠΡΟ - Project 06 | Personal Finance Manager</a:t>
            </a:r>
            <a:endParaRPr lang="en-US" sz="750" dirty="0"/>
          </a:p>
        </p:txBody>
      </p:sp>
      <p:sp>
        <p:nvSpPr>
          <p:cNvPr id="7" name="Text 5"/>
          <p:cNvSpPr/>
          <p:nvPr/>
        </p:nvSpPr>
        <p:spPr>
          <a:xfrm>
            <a:off x="11292840" y="6428232"/>
            <a:ext cx="347472" cy="228600"/>
          </a:xfrm>
          <a:prstGeom prst="rect">
            <a:avLst/>
          </a:prstGeom>
          <a:noFill/>
          <a:ln/>
        </p:spPr>
        <p:txBody>
          <a:bodyPr wrap="square" lIns="0" tIns="0" rIns="0" bIns="0" rtlCol="0" anchor="ctr"/>
          <a:lstStyle/>
          <a:p>
            <a:pPr marL="0" indent="0" algn="ctr">
              <a:buNone/>
            </a:pPr>
            <a:r>
              <a:rPr lang="en-US" sz="850" b="1" dirty="0">
                <a:solidFill>
                  <a:srgbClr val="60A5FA"/>
                </a:solidFill>
                <a:latin typeface="Arial" pitchFamily="34" charset="0"/>
                <a:ea typeface="Arial" pitchFamily="34" charset="-122"/>
                <a:cs typeface="Arial" pitchFamily="34" charset="-120"/>
              </a:rPr>
              <a:t>03</a:t>
            </a:r>
            <a:endParaRPr lang="en-US" sz="850" dirty="0"/>
          </a:p>
        </p:txBody>
      </p:sp>
      <p:sp>
        <p:nvSpPr>
          <p:cNvPr id="8" name="Text 6"/>
          <p:cNvSpPr/>
          <p:nvPr/>
        </p:nvSpPr>
        <p:spPr>
          <a:xfrm>
            <a:off x="685800" y="1417320"/>
            <a:ext cx="5120640" cy="3840480"/>
          </a:xfrm>
          <a:prstGeom prst="rect">
            <a:avLst/>
          </a:prstGeom>
          <a:noFill/>
          <a:ln/>
        </p:spPr>
        <p:txBody>
          <a:bodyPr wrap="square" lIns="635" tIns="635" rIns="635" bIns="635" rtlCol="0" anchor="t">
            <a:normAutofit/>
          </a:bodyPr>
          <a:lstStyle/>
          <a:p>
            <a:pPr marL="0" indent="0">
              <a:buNone/>
            </a:pPr>
            <a:r>
              <a:rPr lang="en-US" sz="1600" b="1" u="sng" dirty="0">
                <a:solidFill>
                  <a:srgbClr val="E5E7EB"/>
                </a:solidFill>
                <a:latin typeface="Arial" pitchFamily="34" charset="0"/>
                <a:ea typeface="Arial" pitchFamily="34" charset="-122"/>
                <a:cs typeface="Arial" pitchFamily="34" charset="-120"/>
              </a:rPr>
              <a:t>Καλύφθηκαν οι βασικές λειτουργικές απαιτήσεις</a:t>
            </a:r>
            <a:endParaRPr lang="el-GR" sz="1600" b="1" u="sng" dirty="0">
              <a:solidFill>
                <a:srgbClr val="E5E7EB"/>
              </a:solidFill>
              <a:latin typeface="Arial" pitchFamily="34" charset="0"/>
              <a:ea typeface="Arial" pitchFamily="34" charset="-122"/>
              <a:cs typeface="Arial" pitchFamily="34" charset="-120"/>
            </a:endParaRPr>
          </a:p>
          <a:p>
            <a:pPr marL="0" indent="0">
              <a:buNone/>
            </a:pPr>
            <a:endParaRPr lang="en-US" sz="1420" u="sng" dirty="0"/>
          </a:p>
          <a:p>
            <a:pPr marL="285750" indent="-285750">
              <a:buFont typeface="Wingdings" panose="05000000000000000000" pitchFamily="2" charset="2"/>
              <a:buChar char="ü"/>
            </a:pPr>
            <a:r>
              <a:rPr lang="en-US" sz="1420" dirty="0">
                <a:solidFill>
                  <a:srgbClr val="E5E7EB"/>
                </a:solidFill>
                <a:latin typeface="Arial" pitchFamily="34" charset="0"/>
                <a:ea typeface="Arial" pitchFamily="34" charset="-122"/>
                <a:cs typeface="Arial" pitchFamily="34" charset="-120"/>
              </a:rPr>
              <a:t>CRUD κατηγοριών εσόδων / εξόδων.</a:t>
            </a:r>
            <a:endParaRPr lang="en-US" sz="1420" dirty="0"/>
          </a:p>
          <a:p>
            <a:pPr marL="285750" indent="-285750">
              <a:buFont typeface="Wingdings" panose="05000000000000000000" pitchFamily="2" charset="2"/>
              <a:buChar char="ü"/>
            </a:pPr>
            <a:r>
              <a:rPr lang="en-US" sz="1420" dirty="0">
                <a:solidFill>
                  <a:srgbClr val="E5E7EB"/>
                </a:solidFill>
                <a:latin typeface="Arial" pitchFamily="34" charset="0"/>
                <a:ea typeface="Arial" pitchFamily="34" charset="-122"/>
                <a:cs typeface="Arial" pitchFamily="34" charset="-120"/>
              </a:rPr>
              <a:t>CRUD συναλλαγών ανά μήνα και με φίλτρα.</a:t>
            </a:r>
            <a:endParaRPr lang="en-US" sz="1420" dirty="0"/>
          </a:p>
          <a:p>
            <a:pPr marL="285750" indent="-285750">
              <a:buFont typeface="Wingdings" panose="05000000000000000000" pitchFamily="2" charset="2"/>
              <a:buChar char="ü"/>
            </a:pPr>
            <a:r>
              <a:rPr lang="en-US" sz="1420" dirty="0">
                <a:solidFill>
                  <a:srgbClr val="E5E7EB"/>
                </a:solidFill>
                <a:latin typeface="Arial" pitchFamily="34" charset="0"/>
                <a:ea typeface="Arial" pitchFamily="34" charset="-122"/>
                <a:cs typeface="Arial" pitchFamily="34" charset="-120"/>
              </a:rPr>
              <a:t>Μηνιαίες επαναλαμβανόμενες κινήσεις.</a:t>
            </a:r>
            <a:endParaRPr lang="en-US" sz="1420" dirty="0"/>
          </a:p>
          <a:p>
            <a:pPr marL="285750" indent="-285750">
              <a:buFont typeface="Wingdings" panose="05000000000000000000" pitchFamily="2" charset="2"/>
              <a:buChar char="ü"/>
            </a:pPr>
            <a:r>
              <a:rPr lang="en-US" sz="1420" dirty="0">
                <a:solidFill>
                  <a:srgbClr val="E5E7EB"/>
                </a:solidFill>
                <a:latin typeface="Arial" pitchFamily="34" charset="0"/>
                <a:ea typeface="Arial" pitchFamily="34" charset="-122"/>
                <a:cs typeface="Arial" pitchFamily="34" charset="-120"/>
              </a:rPr>
              <a:t>Τουλάχιστον 3 γραφήματα - υλοποιήθηκαν 4.</a:t>
            </a:r>
            <a:endParaRPr lang="en-US" sz="1420" dirty="0"/>
          </a:p>
          <a:p>
            <a:pPr marL="285750" indent="-285750">
              <a:buFont typeface="Wingdings" panose="05000000000000000000" pitchFamily="2" charset="2"/>
              <a:buChar char="ü"/>
            </a:pPr>
            <a:r>
              <a:rPr lang="en-US" sz="1420" dirty="0">
                <a:solidFill>
                  <a:srgbClr val="E5E7EB"/>
                </a:solidFill>
                <a:latin typeface="Arial" pitchFamily="34" charset="0"/>
                <a:ea typeface="Arial" pitchFamily="34" charset="-122"/>
                <a:cs typeface="Arial" pitchFamily="34" charset="-120"/>
              </a:rPr>
              <a:t>Export μηνιαίας αναφοράς σε Excel και επιπλέον PDF.</a:t>
            </a:r>
            <a:endParaRPr lang="en-US" sz="1420" dirty="0"/>
          </a:p>
          <a:p>
            <a:pPr marL="285750" indent="-285750">
              <a:buFont typeface="Wingdings" panose="05000000000000000000" pitchFamily="2" charset="2"/>
              <a:buChar char="ü"/>
            </a:pPr>
            <a:r>
              <a:rPr lang="en-US" sz="1420" dirty="0">
                <a:solidFill>
                  <a:srgbClr val="E5E7EB"/>
                </a:solidFill>
                <a:latin typeface="Arial" pitchFamily="34" charset="0"/>
                <a:ea typeface="Arial" pitchFamily="34" charset="-122"/>
                <a:cs typeface="Arial" pitchFamily="34" charset="-120"/>
              </a:rPr>
              <a:t>Αποθήκευση σε βάση δεδομένων SQLite.</a:t>
            </a:r>
            <a:endParaRPr lang="en-US" sz="1420" dirty="0"/>
          </a:p>
          <a:p>
            <a:pPr marL="285750" indent="-285750">
              <a:buFont typeface="Wingdings" panose="05000000000000000000" pitchFamily="2" charset="2"/>
              <a:buChar char="ü"/>
            </a:pPr>
            <a:r>
              <a:rPr lang="en-US" sz="1420" dirty="0">
                <a:solidFill>
                  <a:srgbClr val="E5E7EB"/>
                </a:solidFill>
                <a:latin typeface="Arial" pitchFamily="34" charset="0"/>
                <a:ea typeface="Arial" pitchFamily="34" charset="-122"/>
                <a:cs typeface="Arial" pitchFamily="34" charset="-120"/>
              </a:rPr>
              <a:t>Απλό γραφικό περιβάλλον χρήστη σε Tkinter.</a:t>
            </a:r>
            <a:endParaRPr lang="en-US" sz="1420" dirty="0"/>
          </a:p>
        </p:txBody>
      </p:sp>
      <p:sp>
        <p:nvSpPr>
          <p:cNvPr id="9" name="Text 7"/>
          <p:cNvSpPr/>
          <p:nvPr/>
        </p:nvSpPr>
        <p:spPr>
          <a:xfrm>
            <a:off x="6400800" y="1417320"/>
            <a:ext cx="256032" cy="256032"/>
          </a:xfrm>
          <a:prstGeom prst="rect">
            <a:avLst/>
          </a:prstGeom>
          <a:noFill/>
          <a:ln/>
        </p:spPr>
        <p:txBody>
          <a:bodyPr wrap="square" lIns="0" tIns="0" rIns="0" bIns="0" rtlCol="0" anchor="ctr"/>
          <a:lstStyle/>
          <a:p>
            <a:pPr marL="0" indent="0">
              <a:buNone/>
            </a:pPr>
            <a:r>
              <a:rPr lang="en-US" sz="1700" b="1" dirty="0">
                <a:solidFill>
                  <a:srgbClr val="22C55E"/>
                </a:solidFill>
                <a:latin typeface="Arial" pitchFamily="34" charset="0"/>
                <a:ea typeface="Arial" pitchFamily="34" charset="-122"/>
                <a:cs typeface="Arial" pitchFamily="34" charset="-120"/>
              </a:rPr>
              <a:t>✓</a:t>
            </a:r>
            <a:endParaRPr lang="en-US" sz="1700" dirty="0"/>
          </a:p>
        </p:txBody>
      </p:sp>
      <p:sp>
        <p:nvSpPr>
          <p:cNvPr id="10" name="Text 8"/>
          <p:cNvSpPr/>
          <p:nvPr/>
        </p:nvSpPr>
        <p:spPr>
          <a:xfrm>
            <a:off x="6748272" y="1399032"/>
            <a:ext cx="1417320" cy="256032"/>
          </a:xfrm>
          <a:prstGeom prst="rect">
            <a:avLst/>
          </a:prstGeom>
          <a:noFill/>
          <a:ln/>
        </p:spPr>
        <p:txBody>
          <a:bodyPr wrap="square" lIns="0" tIns="0" rIns="0" bIns="0" rtlCol="0" anchor="ctr"/>
          <a:lstStyle/>
          <a:p>
            <a:pPr marL="0" indent="0">
              <a:buNone/>
            </a:pPr>
            <a:r>
              <a:rPr lang="en-US" sz="1350" b="1" dirty="0">
                <a:solidFill>
                  <a:srgbClr val="F8FAFC"/>
                </a:solidFill>
                <a:latin typeface="Arial" pitchFamily="34" charset="0"/>
                <a:ea typeface="Arial" pitchFamily="34" charset="-122"/>
                <a:cs typeface="Arial" pitchFamily="34" charset="-120"/>
              </a:rPr>
              <a:t>Κατηγορίες</a:t>
            </a:r>
            <a:endParaRPr lang="en-US" sz="1350" dirty="0"/>
          </a:p>
        </p:txBody>
      </p:sp>
      <p:sp>
        <p:nvSpPr>
          <p:cNvPr id="11" name="Text 9"/>
          <p:cNvSpPr/>
          <p:nvPr/>
        </p:nvSpPr>
        <p:spPr>
          <a:xfrm>
            <a:off x="8458200" y="1435608"/>
            <a:ext cx="2788920" cy="228600"/>
          </a:xfrm>
          <a:prstGeom prst="rect">
            <a:avLst/>
          </a:prstGeom>
          <a:noFill/>
          <a:ln/>
        </p:spPr>
        <p:txBody>
          <a:bodyPr wrap="square" lIns="0" tIns="0" rIns="0" bIns="0" rtlCol="0" anchor="ctr"/>
          <a:lstStyle/>
          <a:p>
            <a:pPr marL="0" indent="0">
              <a:buNone/>
            </a:pPr>
            <a:r>
              <a:rPr lang="en-US" sz="1150" dirty="0">
                <a:solidFill>
                  <a:srgbClr val="CBD5E1"/>
                </a:solidFill>
                <a:latin typeface="Arial" pitchFamily="34" charset="0"/>
                <a:ea typeface="Arial" pitchFamily="34" charset="-122"/>
                <a:cs typeface="Arial" pitchFamily="34" charset="-120"/>
              </a:rPr>
              <a:t>Προσθήκη / αλλαγή / διαγραφή</a:t>
            </a:r>
            <a:endParaRPr lang="en-US" sz="1150" dirty="0"/>
          </a:p>
        </p:txBody>
      </p:sp>
      <p:sp>
        <p:nvSpPr>
          <p:cNvPr id="12" name="Text 10"/>
          <p:cNvSpPr/>
          <p:nvPr/>
        </p:nvSpPr>
        <p:spPr>
          <a:xfrm>
            <a:off x="6400800" y="2130552"/>
            <a:ext cx="256032" cy="256032"/>
          </a:xfrm>
          <a:prstGeom prst="rect">
            <a:avLst/>
          </a:prstGeom>
          <a:noFill/>
          <a:ln/>
        </p:spPr>
        <p:txBody>
          <a:bodyPr wrap="square" lIns="0" tIns="0" rIns="0" bIns="0" rtlCol="0" anchor="ctr"/>
          <a:lstStyle/>
          <a:p>
            <a:pPr marL="0" indent="0">
              <a:buNone/>
            </a:pPr>
            <a:r>
              <a:rPr lang="en-US" sz="1700" b="1" dirty="0">
                <a:solidFill>
                  <a:srgbClr val="22C55E"/>
                </a:solidFill>
                <a:latin typeface="Arial" pitchFamily="34" charset="0"/>
                <a:ea typeface="Arial" pitchFamily="34" charset="-122"/>
                <a:cs typeface="Arial" pitchFamily="34" charset="-120"/>
              </a:rPr>
              <a:t>✓</a:t>
            </a:r>
            <a:endParaRPr lang="en-US" sz="1700" dirty="0"/>
          </a:p>
        </p:txBody>
      </p:sp>
      <p:sp>
        <p:nvSpPr>
          <p:cNvPr id="13" name="Text 11"/>
          <p:cNvSpPr/>
          <p:nvPr/>
        </p:nvSpPr>
        <p:spPr>
          <a:xfrm>
            <a:off x="6748272" y="2112264"/>
            <a:ext cx="1417320" cy="256032"/>
          </a:xfrm>
          <a:prstGeom prst="rect">
            <a:avLst/>
          </a:prstGeom>
          <a:noFill/>
          <a:ln/>
        </p:spPr>
        <p:txBody>
          <a:bodyPr wrap="square" lIns="0" tIns="0" rIns="0" bIns="0" rtlCol="0" anchor="ctr"/>
          <a:lstStyle/>
          <a:p>
            <a:pPr marL="0" indent="0">
              <a:buNone/>
            </a:pPr>
            <a:r>
              <a:rPr lang="en-US" sz="1350" b="1" dirty="0">
                <a:solidFill>
                  <a:srgbClr val="F8FAFC"/>
                </a:solidFill>
                <a:latin typeface="Arial" pitchFamily="34" charset="0"/>
                <a:ea typeface="Arial" pitchFamily="34" charset="-122"/>
                <a:cs typeface="Arial" pitchFamily="34" charset="-120"/>
              </a:rPr>
              <a:t>Συναλλαγές</a:t>
            </a:r>
            <a:endParaRPr lang="en-US" sz="1350" dirty="0"/>
          </a:p>
        </p:txBody>
      </p:sp>
      <p:sp>
        <p:nvSpPr>
          <p:cNvPr id="14" name="Text 12"/>
          <p:cNvSpPr/>
          <p:nvPr/>
        </p:nvSpPr>
        <p:spPr>
          <a:xfrm>
            <a:off x="8458200" y="2148840"/>
            <a:ext cx="2788920" cy="228600"/>
          </a:xfrm>
          <a:prstGeom prst="rect">
            <a:avLst/>
          </a:prstGeom>
          <a:noFill/>
          <a:ln/>
        </p:spPr>
        <p:txBody>
          <a:bodyPr wrap="square" lIns="0" tIns="0" rIns="0" bIns="0" rtlCol="0" anchor="ctr"/>
          <a:lstStyle/>
          <a:p>
            <a:pPr marL="0" indent="0">
              <a:buNone/>
            </a:pPr>
            <a:r>
              <a:rPr lang="en-US" sz="1150" dirty="0">
                <a:solidFill>
                  <a:srgbClr val="CBD5E1"/>
                </a:solidFill>
                <a:latin typeface="Arial" pitchFamily="34" charset="0"/>
                <a:ea typeface="Arial" pitchFamily="34" charset="-122"/>
                <a:cs typeface="Arial" pitchFamily="34" charset="-120"/>
              </a:rPr>
              <a:t>Έσοδα, έξοδα, φίλτρα, σύνολα</a:t>
            </a:r>
            <a:endParaRPr lang="en-US" sz="1150" dirty="0"/>
          </a:p>
        </p:txBody>
      </p:sp>
      <p:sp>
        <p:nvSpPr>
          <p:cNvPr id="15" name="Text 13"/>
          <p:cNvSpPr/>
          <p:nvPr/>
        </p:nvSpPr>
        <p:spPr>
          <a:xfrm>
            <a:off x="6400800" y="2843784"/>
            <a:ext cx="256032" cy="256032"/>
          </a:xfrm>
          <a:prstGeom prst="rect">
            <a:avLst/>
          </a:prstGeom>
          <a:noFill/>
          <a:ln/>
        </p:spPr>
        <p:txBody>
          <a:bodyPr wrap="square" lIns="0" tIns="0" rIns="0" bIns="0" rtlCol="0" anchor="ctr"/>
          <a:lstStyle/>
          <a:p>
            <a:pPr marL="0" indent="0">
              <a:buNone/>
            </a:pPr>
            <a:r>
              <a:rPr lang="en-US" sz="1700" b="1" dirty="0">
                <a:solidFill>
                  <a:srgbClr val="22C55E"/>
                </a:solidFill>
                <a:latin typeface="Arial" pitchFamily="34" charset="0"/>
                <a:ea typeface="Arial" pitchFamily="34" charset="-122"/>
                <a:cs typeface="Arial" pitchFamily="34" charset="-120"/>
              </a:rPr>
              <a:t>✓</a:t>
            </a:r>
            <a:endParaRPr lang="en-US" sz="1700" dirty="0"/>
          </a:p>
        </p:txBody>
      </p:sp>
      <p:sp>
        <p:nvSpPr>
          <p:cNvPr id="16" name="Text 14"/>
          <p:cNvSpPr/>
          <p:nvPr/>
        </p:nvSpPr>
        <p:spPr>
          <a:xfrm>
            <a:off x="6748272" y="2825496"/>
            <a:ext cx="1417320" cy="256032"/>
          </a:xfrm>
          <a:prstGeom prst="rect">
            <a:avLst/>
          </a:prstGeom>
          <a:noFill/>
          <a:ln/>
        </p:spPr>
        <p:txBody>
          <a:bodyPr wrap="square" lIns="0" tIns="0" rIns="0" bIns="0" rtlCol="0" anchor="ctr"/>
          <a:lstStyle/>
          <a:p>
            <a:pPr marL="0" indent="0">
              <a:buNone/>
            </a:pPr>
            <a:r>
              <a:rPr lang="en-US" sz="1350" b="1" dirty="0">
                <a:solidFill>
                  <a:srgbClr val="F8FAFC"/>
                </a:solidFill>
                <a:latin typeface="Arial" pitchFamily="34" charset="0"/>
                <a:ea typeface="Arial" pitchFamily="34" charset="-122"/>
                <a:cs typeface="Arial" pitchFamily="34" charset="-120"/>
              </a:rPr>
              <a:t>Recurring</a:t>
            </a:r>
            <a:endParaRPr lang="en-US" sz="1350" dirty="0"/>
          </a:p>
        </p:txBody>
      </p:sp>
      <p:sp>
        <p:nvSpPr>
          <p:cNvPr id="17" name="Text 15"/>
          <p:cNvSpPr/>
          <p:nvPr/>
        </p:nvSpPr>
        <p:spPr>
          <a:xfrm>
            <a:off x="8458200" y="2862072"/>
            <a:ext cx="2788920" cy="228600"/>
          </a:xfrm>
          <a:prstGeom prst="rect">
            <a:avLst/>
          </a:prstGeom>
          <a:noFill/>
          <a:ln/>
        </p:spPr>
        <p:txBody>
          <a:bodyPr wrap="square" lIns="0" tIns="0" rIns="0" bIns="0" rtlCol="0" anchor="ctr"/>
          <a:lstStyle/>
          <a:p>
            <a:pPr marL="0" indent="0">
              <a:buNone/>
            </a:pPr>
            <a:r>
              <a:rPr lang="en-US" sz="1150" dirty="0">
                <a:solidFill>
                  <a:srgbClr val="CBD5E1"/>
                </a:solidFill>
                <a:latin typeface="Arial" pitchFamily="34" charset="0"/>
                <a:ea typeface="Arial" pitchFamily="34" charset="-122"/>
                <a:cs typeface="Arial" pitchFamily="34" charset="-120"/>
              </a:rPr>
              <a:t>Αυτόματη δημιουργία για διάστημα</a:t>
            </a:r>
            <a:endParaRPr lang="en-US" sz="1150" dirty="0"/>
          </a:p>
        </p:txBody>
      </p:sp>
      <p:sp>
        <p:nvSpPr>
          <p:cNvPr id="18" name="Text 16"/>
          <p:cNvSpPr/>
          <p:nvPr/>
        </p:nvSpPr>
        <p:spPr>
          <a:xfrm>
            <a:off x="6400800" y="3557016"/>
            <a:ext cx="256032" cy="256032"/>
          </a:xfrm>
          <a:prstGeom prst="rect">
            <a:avLst/>
          </a:prstGeom>
          <a:noFill/>
          <a:ln/>
        </p:spPr>
        <p:txBody>
          <a:bodyPr wrap="square" lIns="0" tIns="0" rIns="0" bIns="0" rtlCol="0" anchor="ctr"/>
          <a:lstStyle/>
          <a:p>
            <a:pPr marL="0" indent="0">
              <a:buNone/>
            </a:pPr>
            <a:r>
              <a:rPr lang="en-US" sz="1700" b="1" dirty="0">
                <a:solidFill>
                  <a:srgbClr val="22C55E"/>
                </a:solidFill>
                <a:latin typeface="Arial" pitchFamily="34" charset="0"/>
                <a:ea typeface="Arial" pitchFamily="34" charset="-122"/>
                <a:cs typeface="Arial" pitchFamily="34" charset="-120"/>
              </a:rPr>
              <a:t>✓</a:t>
            </a:r>
            <a:endParaRPr lang="en-US" sz="1700" dirty="0"/>
          </a:p>
        </p:txBody>
      </p:sp>
      <p:sp>
        <p:nvSpPr>
          <p:cNvPr id="19" name="Text 17"/>
          <p:cNvSpPr/>
          <p:nvPr/>
        </p:nvSpPr>
        <p:spPr>
          <a:xfrm>
            <a:off x="6748272" y="3538728"/>
            <a:ext cx="1417320" cy="256032"/>
          </a:xfrm>
          <a:prstGeom prst="rect">
            <a:avLst/>
          </a:prstGeom>
          <a:noFill/>
          <a:ln/>
        </p:spPr>
        <p:txBody>
          <a:bodyPr wrap="square" lIns="0" tIns="0" rIns="0" bIns="0" rtlCol="0" anchor="ctr"/>
          <a:lstStyle/>
          <a:p>
            <a:pPr marL="0" indent="0">
              <a:buNone/>
            </a:pPr>
            <a:r>
              <a:rPr lang="en-US" sz="1350" b="1" dirty="0">
                <a:solidFill>
                  <a:srgbClr val="F8FAFC"/>
                </a:solidFill>
                <a:latin typeface="Arial" pitchFamily="34" charset="0"/>
                <a:ea typeface="Arial" pitchFamily="34" charset="-122"/>
                <a:cs typeface="Arial" pitchFamily="34" charset="-120"/>
              </a:rPr>
              <a:t>Αναφορές</a:t>
            </a:r>
            <a:endParaRPr lang="en-US" sz="1350" dirty="0"/>
          </a:p>
        </p:txBody>
      </p:sp>
      <p:sp>
        <p:nvSpPr>
          <p:cNvPr id="20" name="Text 18"/>
          <p:cNvSpPr/>
          <p:nvPr/>
        </p:nvSpPr>
        <p:spPr>
          <a:xfrm>
            <a:off x="8458200" y="3575304"/>
            <a:ext cx="2788920" cy="228600"/>
          </a:xfrm>
          <a:prstGeom prst="rect">
            <a:avLst/>
          </a:prstGeom>
          <a:noFill/>
          <a:ln/>
        </p:spPr>
        <p:txBody>
          <a:bodyPr wrap="square" lIns="0" tIns="0" rIns="0" bIns="0" rtlCol="0" anchor="ctr"/>
          <a:lstStyle/>
          <a:p>
            <a:pPr marL="0" indent="0">
              <a:buNone/>
            </a:pPr>
            <a:r>
              <a:rPr lang="en-US" sz="1150" dirty="0">
                <a:solidFill>
                  <a:srgbClr val="CBD5E1"/>
                </a:solidFill>
                <a:latin typeface="Arial" pitchFamily="34" charset="0"/>
                <a:ea typeface="Arial" pitchFamily="34" charset="-122"/>
                <a:cs typeface="Arial" pitchFamily="34" charset="-120"/>
              </a:rPr>
              <a:t>Γραφήματα, Excel και PDF</a:t>
            </a:r>
            <a:endParaRPr lang="en-US" sz="1150" dirty="0"/>
          </a:p>
        </p:txBody>
      </p:sp>
      <p:sp>
        <p:nvSpPr>
          <p:cNvPr id="21" name="Text 19"/>
          <p:cNvSpPr/>
          <p:nvPr/>
        </p:nvSpPr>
        <p:spPr>
          <a:xfrm>
            <a:off x="6400800" y="4270248"/>
            <a:ext cx="256032" cy="256032"/>
          </a:xfrm>
          <a:prstGeom prst="rect">
            <a:avLst/>
          </a:prstGeom>
          <a:noFill/>
          <a:ln/>
        </p:spPr>
        <p:txBody>
          <a:bodyPr wrap="square" lIns="0" tIns="0" rIns="0" bIns="0" rtlCol="0" anchor="ctr"/>
          <a:lstStyle/>
          <a:p>
            <a:pPr marL="0" indent="0">
              <a:buNone/>
            </a:pPr>
            <a:r>
              <a:rPr lang="en-US" sz="1700" b="1" dirty="0">
                <a:solidFill>
                  <a:srgbClr val="22C55E"/>
                </a:solidFill>
                <a:latin typeface="Arial" pitchFamily="34" charset="0"/>
                <a:ea typeface="Arial" pitchFamily="34" charset="-122"/>
                <a:cs typeface="Arial" pitchFamily="34" charset="-120"/>
              </a:rPr>
              <a:t>✓</a:t>
            </a:r>
            <a:endParaRPr lang="en-US" sz="1700" dirty="0"/>
          </a:p>
        </p:txBody>
      </p:sp>
      <p:sp>
        <p:nvSpPr>
          <p:cNvPr id="22" name="Text 20"/>
          <p:cNvSpPr/>
          <p:nvPr/>
        </p:nvSpPr>
        <p:spPr>
          <a:xfrm>
            <a:off x="6748272" y="4251960"/>
            <a:ext cx="1417320" cy="256032"/>
          </a:xfrm>
          <a:prstGeom prst="rect">
            <a:avLst/>
          </a:prstGeom>
          <a:noFill/>
          <a:ln/>
        </p:spPr>
        <p:txBody>
          <a:bodyPr wrap="square" lIns="0" tIns="0" rIns="0" bIns="0" rtlCol="0" anchor="ctr"/>
          <a:lstStyle/>
          <a:p>
            <a:pPr marL="0" indent="0">
              <a:buNone/>
            </a:pPr>
            <a:r>
              <a:rPr lang="en-US" sz="1350" b="1" dirty="0">
                <a:solidFill>
                  <a:srgbClr val="F8FAFC"/>
                </a:solidFill>
                <a:latin typeface="Arial" pitchFamily="34" charset="0"/>
                <a:ea typeface="Arial" pitchFamily="34" charset="-122"/>
                <a:cs typeface="Arial" pitchFamily="34" charset="-120"/>
              </a:rPr>
              <a:t>Βάση</a:t>
            </a:r>
            <a:endParaRPr lang="en-US" sz="1350" dirty="0"/>
          </a:p>
        </p:txBody>
      </p:sp>
      <p:sp>
        <p:nvSpPr>
          <p:cNvPr id="23" name="Text 21"/>
          <p:cNvSpPr/>
          <p:nvPr/>
        </p:nvSpPr>
        <p:spPr>
          <a:xfrm>
            <a:off x="8458200" y="4288536"/>
            <a:ext cx="2788920" cy="228600"/>
          </a:xfrm>
          <a:prstGeom prst="rect">
            <a:avLst/>
          </a:prstGeom>
          <a:noFill/>
          <a:ln/>
        </p:spPr>
        <p:txBody>
          <a:bodyPr wrap="square" lIns="0" tIns="0" rIns="0" bIns="0" rtlCol="0" anchor="ctr"/>
          <a:lstStyle/>
          <a:p>
            <a:pPr marL="0" indent="0">
              <a:buNone/>
            </a:pPr>
            <a:r>
              <a:rPr lang="en-US" sz="1150" dirty="0">
                <a:solidFill>
                  <a:srgbClr val="CBD5E1"/>
                </a:solidFill>
                <a:latin typeface="Arial" pitchFamily="34" charset="0"/>
                <a:ea typeface="Arial" pitchFamily="34" charset="-122"/>
                <a:cs typeface="Arial" pitchFamily="34" charset="-120"/>
              </a:rPr>
              <a:t>SQLite με foreign keys</a:t>
            </a:r>
            <a:endParaRPr lang="en-US" sz="1150" dirty="0"/>
          </a:p>
        </p:txBody>
      </p:sp>
      <p:sp>
        <p:nvSpPr>
          <p:cNvPr id="24" name="Text 22"/>
          <p:cNvSpPr/>
          <p:nvPr/>
        </p:nvSpPr>
        <p:spPr>
          <a:xfrm>
            <a:off x="6400800" y="5257800"/>
            <a:ext cx="4800600" cy="502920"/>
          </a:xfrm>
          <a:prstGeom prst="rect">
            <a:avLst/>
          </a:prstGeom>
          <a:noFill/>
          <a:ln/>
        </p:spPr>
        <p:txBody>
          <a:bodyPr wrap="square" lIns="254" tIns="254" rIns="254" bIns="254" rtlCol="0" anchor="ctr">
            <a:normAutofit/>
          </a:bodyPr>
          <a:lstStyle/>
          <a:p>
            <a:pPr marL="0" indent="0">
              <a:buNone/>
            </a:pPr>
            <a:r>
              <a:rPr lang="en-US" sz="1400" b="1" dirty="0">
                <a:solidFill>
                  <a:srgbClr val="60A5FA"/>
                </a:solidFill>
                <a:latin typeface="Arial" pitchFamily="34" charset="0"/>
                <a:ea typeface="Arial" pitchFamily="34" charset="-122"/>
                <a:cs typeface="Arial" pitchFamily="34" charset="-120"/>
              </a:rPr>
              <a:t>Η υλοποίηση έγινε με επιπλέον προσοχή σε παραδοχές, validations και τεκμηρίωση.</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02920" y="320040"/>
            <a:ext cx="8412480" cy="384048"/>
          </a:xfrm>
          <a:prstGeom prst="rect">
            <a:avLst/>
          </a:prstGeom>
          <a:noFill/>
          <a:ln/>
        </p:spPr>
        <p:txBody>
          <a:bodyPr wrap="square" lIns="0" tIns="0" rIns="0" bIns="0" rtlCol="0" anchor="ctr"/>
          <a:lstStyle/>
          <a:p>
            <a:pPr marL="0" indent="0">
              <a:buNone/>
            </a:pPr>
            <a:r>
              <a:rPr lang="en-US" sz="2400" b="1" dirty="0">
                <a:solidFill>
                  <a:srgbClr val="F8FAFC"/>
                </a:solidFill>
                <a:latin typeface="Arial" pitchFamily="34" charset="0"/>
                <a:ea typeface="Arial" pitchFamily="34" charset="-122"/>
                <a:cs typeface="Arial" pitchFamily="34" charset="-120"/>
              </a:rPr>
              <a:t>Τεχνολογίες και αρχιτεκτονική</a:t>
            </a:r>
            <a:endParaRPr lang="en-US" sz="2400" dirty="0"/>
          </a:p>
        </p:txBody>
      </p:sp>
      <p:sp>
        <p:nvSpPr>
          <p:cNvPr id="3" name="Text 1"/>
          <p:cNvSpPr/>
          <p:nvPr/>
        </p:nvSpPr>
        <p:spPr>
          <a:xfrm>
            <a:off x="521208" y="749808"/>
            <a:ext cx="8046720" cy="219456"/>
          </a:xfrm>
          <a:prstGeom prst="rect">
            <a:avLst/>
          </a:prstGeom>
          <a:noFill/>
          <a:ln/>
        </p:spPr>
        <p:txBody>
          <a:bodyPr wrap="square" lIns="0" tIns="0" rIns="0" bIns="0" rtlCol="0" anchor="ctr"/>
          <a:lstStyle/>
          <a:p>
            <a:pPr marL="0" indent="0">
              <a:buNone/>
            </a:pPr>
            <a:r>
              <a:rPr lang="en-US" sz="1050" dirty="0">
                <a:solidFill>
                  <a:srgbClr val="94A3B8"/>
                </a:solidFill>
                <a:latin typeface="Arial" pitchFamily="34" charset="0"/>
                <a:ea typeface="Arial" pitchFamily="34" charset="-122"/>
                <a:cs typeface="Arial" pitchFamily="34" charset="-120"/>
              </a:rPr>
              <a:t>Modular δομή ώστε κάθε κομμάτι να έχει ξεκάθαρη ευθύνη</a:t>
            </a:r>
            <a:endParaRPr lang="en-US" sz="1050" dirty="0"/>
          </a:p>
        </p:txBody>
      </p:sp>
      <p:sp>
        <p:nvSpPr>
          <p:cNvPr id="4" name="Shape 2"/>
          <p:cNvSpPr/>
          <p:nvPr/>
        </p:nvSpPr>
        <p:spPr>
          <a:xfrm>
            <a:off x="502920" y="1078992"/>
            <a:ext cx="11201400" cy="0"/>
          </a:xfrm>
          <a:prstGeom prst="line">
            <a:avLst/>
          </a:prstGeom>
          <a:noFill/>
          <a:ln w="10160">
            <a:solidFill>
              <a:srgbClr val="334155"/>
            </a:solidFill>
            <a:prstDash val="solid"/>
          </a:ln>
        </p:spPr>
      </p:sp>
      <p:sp>
        <p:nvSpPr>
          <p:cNvPr id="5" name="Shape 3"/>
          <p:cNvSpPr/>
          <p:nvPr/>
        </p:nvSpPr>
        <p:spPr>
          <a:xfrm>
            <a:off x="502920" y="1078992"/>
            <a:ext cx="1234440" cy="0"/>
          </a:xfrm>
          <a:prstGeom prst="line">
            <a:avLst/>
          </a:prstGeom>
          <a:noFill/>
          <a:ln w="30480">
            <a:solidFill>
              <a:srgbClr val="3B82F6"/>
            </a:solidFill>
            <a:prstDash val="solid"/>
          </a:ln>
        </p:spPr>
      </p:sp>
      <p:sp>
        <p:nvSpPr>
          <p:cNvPr id="6" name="Text 4"/>
          <p:cNvSpPr/>
          <p:nvPr/>
        </p:nvSpPr>
        <p:spPr>
          <a:xfrm>
            <a:off x="502920" y="6473952"/>
            <a:ext cx="6400800" cy="164592"/>
          </a:xfrm>
          <a:prstGeom prst="rect">
            <a:avLst/>
          </a:prstGeom>
          <a:noFill/>
          <a:ln/>
        </p:spPr>
        <p:txBody>
          <a:bodyPr wrap="square" lIns="0" tIns="0" rIns="0" bIns="0" rtlCol="0" anchor="ctr"/>
          <a:lstStyle/>
          <a:p>
            <a:pPr marL="0" indent="0">
              <a:buNone/>
            </a:pPr>
            <a:r>
              <a:rPr lang="en-US" sz="750" dirty="0">
                <a:solidFill>
                  <a:srgbClr val="94A3B8"/>
                </a:solidFill>
                <a:latin typeface="Arial" pitchFamily="34" charset="0"/>
                <a:ea typeface="Arial" pitchFamily="34" charset="-122"/>
                <a:cs typeface="Arial" pitchFamily="34" charset="-120"/>
              </a:rPr>
              <a:t>ΠΛΗΠΡΟ - Project 06 | Personal Finance Manager</a:t>
            </a:r>
            <a:endParaRPr lang="en-US" sz="750" dirty="0"/>
          </a:p>
        </p:txBody>
      </p:sp>
      <p:sp>
        <p:nvSpPr>
          <p:cNvPr id="7" name="Text 5"/>
          <p:cNvSpPr/>
          <p:nvPr/>
        </p:nvSpPr>
        <p:spPr>
          <a:xfrm>
            <a:off x="11292840" y="6428232"/>
            <a:ext cx="347472" cy="228600"/>
          </a:xfrm>
          <a:prstGeom prst="rect">
            <a:avLst/>
          </a:prstGeom>
          <a:noFill/>
          <a:ln/>
        </p:spPr>
        <p:txBody>
          <a:bodyPr wrap="square" lIns="0" tIns="0" rIns="0" bIns="0" rtlCol="0" anchor="ctr"/>
          <a:lstStyle/>
          <a:p>
            <a:pPr marL="0" indent="0" algn="ctr">
              <a:buNone/>
            </a:pPr>
            <a:r>
              <a:rPr lang="en-US" sz="850" b="1" dirty="0">
                <a:solidFill>
                  <a:srgbClr val="60A5FA"/>
                </a:solidFill>
                <a:latin typeface="Arial" pitchFamily="34" charset="0"/>
                <a:ea typeface="Arial" pitchFamily="34" charset="-122"/>
                <a:cs typeface="Arial" pitchFamily="34" charset="-120"/>
              </a:rPr>
              <a:t>04</a:t>
            </a:r>
            <a:endParaRPr lang="en-US" sz="850" dirty="0"/>
          </a:p>
        </p:txBody>
      </p:sp>
      <p:sp>
        <p:nvSpPr>
          <p:cNvPr id="8" name="Text 6"/>
          <p:cNvSpPr/>
          <p:nvPr/>
        </p:nvSpPr>
        <p:spPr>
          <a:xfrm>
            <a:off x="685800" y="1417320"/>
            <a:ext cx="4160520" cy="3931920"/>
          </a:xfrm>
          <a:prstGeom prst="rect">
            <a:avLst/>
          </a:prstGeom>
          <a:noFill/>
          <a:ln/>
        </p:spPr>
        <p:txBody>
          <a:bodyPr wrap="square" lIns="635" tIns="635" rIns="635" bIns="635" rtlCol="0" anchor="t">
            <a:normAutofit/>
          </a:bodyPr>
          <a:lstStyle/>
          <a:p>
            <a:pPr marL="0" indent="0">
              <a:buNone/>
            </a:pPr>
            <a:r>
              <a:rPr lang="en-US" sz="1600" b="1" u="sng" dirty="0" err="1">
                <a:solidFill>
                  <a:srgbClr val="60A5FA"/>
                </a:solidFill>
                <a:latin typeface="Arial" pitchFamily="34" charset="0"/>
                <a:ea typeface="Arial" pitchFamily="34" charset="-122"/>
                <a:cs typeface="Arial" pitchFamily="34" charset="-120"/>
              </a:rPr>
              <a:t>Τεχνολογίες</a:t>
            </a:r>
            <a:endParaRPr lang="el-GR" sz="1600" b="1" u="sng" dirty="0">
              <a:solidFill>
                <a:srgbClr val="60A5FA"/>
              </a:solidFill>
              <a:latin typeface="Arial" pitchFamily="34" charset="0"/>
              <a:ea typeface="Arial" pitchFamily="34" charset="-122"/>
              <a:cs typeface="Arial" pitchFamily="34" charset="-120"/>
            </a:endParaRPr>
          </a:p>
          <a:p>
            <a:pPr marL="0" indent="0">
              <a:buNone/>
            </a:pPr>
            <a:endParaRPr lang="en-US" sz="1420" u="sng" dirty="0"/>
          </a:p>
          <a:p>
            <a:pPr marL="285750" indent="-285750">
              <a:buFont typeface="Wingdings" panose="05000000000000000000" pitchFamily="2" charset="2"/>
              <a:buChar char="ü"/>
            </a:pPr>
            <a:r>
              <a:rPr lang="en-US" sz="1420" dirty="0">
                <a:solidFill>
                  <a:srgbClr val="E5E7EB"/>
                </a:solidFill>
                <a:latin typeface="Arial" pitchFamily="34" charset="0"/>
                <a:ea typeface="Arial" pitchFamily="34" charset="-122"/>
                <a:cs typeface="Arial" pitchFamily="34" charset="-120"/>
              </a:rPr>
              <a:t>Python, Tkinter, tkcalendar / custom popup</a:t>
            </a:r>
            <a:endParaRPr lang="en-US" sz="1420" dirty="0"/>
          </a:p>
          <a:p>
            <a:pPr marL="285750" indent="-285750">
              <a:buFont typeface="Wingdings" panose="05000000000000000000" pitchFamily="2" charset="2"/>
              <a:buChar char="ü"/>
            </a:pPr>
            <a:r>
              <a:rPr lang="en-US" sz="1420" dirty="0">
                <a:solidFill>
                  <a:srgbClr val="E5E7EB"/>
                </a:solidFill>
                <a:latin typeface="Arial" pitchFamily="34" charset="0"/>
                <a:ea typeface="Arial" pitchFamily="34" charset="-122"/>
                <a:cs typeface="Arial" pitchFamily="34" charset="-120"/>
              </a:rPr>
              <a:t>SQLite για τοπική βάση δεδομένων</a:t>
            </a:r>
            <a:endParaRPr lang="en-US" sz="1420" dirty="0"/>
          </a:p>
          <a:p>
            <a:pPr marL="285750" indent="-285750">
              <a:buFont typeface="Wingdings" panose="05000000000000000000" pitchFamily="2" charset="2"/>
              <a:buChar char="ü"/>
            </a:pPr>
            <a:r>
              <a:rPr lang="en-US" sz="1420" dirty="0">
                <a:solidFill>
                  <a:srgbClr val="E5E7EB"/>
                </a:solidFill>
                <a:latin typeface="Arial" pitchFamily="34" charset="0"/>
                <a:ea typeface="Arial" pitchFamily="34" charset="-122"/>
                <a:cs typeface="Arial" pitchFamily="34" charset="-120"/>
              </a:rPr>
              <a:t>Matplotlib για γραφήματα</a:t>
            </a:r>
            <a:endParaRPr lang="en-US" sz="1420" dirty="0"/>
          </a:p>
          <a:p>
            <a:pPr marL="285750" indent="-285750">
              <a:buFont typeface="Wingdings" panose="05000000000000000000" pitchFamily="2" charset="2"/>
              <a:buChar char="ü"/>
            </a:pPr>
            <a:r>
              <a:rPr lang="en-US" sz="1420" dirty="0">
                <a:solidFill>
                  <a:srgbClr val="E5E7EB"/>
                </a:solidFill>
                <a:latin typeface="Arial" pitchFamily="34" charset="0"/>
                <a:ea typeface="Arial" pitchFamily="34" charset="-122"/>
                <a:cs typeface="Arial" pitchFamily="34" charset="-120"/>
              </a:rPr>
              <a:t>OpenPyXL για Excel export</a:t>
            </a:r>
            <a:endParaRPr lang="en-US" sz="1420" dirty="0"/>
          </a:p>
          <a:p>
            <a:pPr marL="285750" indent="-285750">
              <a:buFont typeface="Wingdings" panose="05000000000000000000" pitchFamily="2" charset="2"/>
              <a:buChar char="ü"/>
            </a:pPr>
            <a:r>
              <a:rPr lang="en-US" sz="1420" dirty="0">
                <a:solidFill>
                  <a:srgbClr val="E5E7EB"/>
                </a:solidFill>
                <a:latin typeface="Arial" pitchFamily="34" charset="0"/>
                <a:ea typeface="Arial" pitchFamily="34" charset="-122"/>
                <a:cs typeface="Arial" pitchFamily="34" charset="-120"/>
              </a:rPr>
              <a:t>FPDF για PDF export</a:t>
            </a:r>
            <a:endParaRPr lang="en-US" sz="1420" dirty="0"/>
          </a:p>
          <a:p>
            <a:pPr marL="285750" indent="-285750">
              <a:buFont typeface="Wingdings" panose="05000000000000000000" pitchFamily="2" charset="2"/>
              <a:buChar char="ü"/>
            </a:pPr>
            <a:r>
              <a:rPr lang="en-US" sz="1420" dirty="0">
                <a:solidFill>
                  <a:srgbClr val="E5E7EB"/>
                </a:solidFill>
                <a:latin typeface="Arial" pitchFamily="34" charset="0"/>
                <a:ea typeface="Arial" pitchFamily="34" charset="-122"/>
                <a:cs typeface="Arial" pitchFamily="34" charset="-120"/>
              </a:rPr>
              <a:t>GitHub και ClickUp για συνεργασία</a:t>
            </a:r>
            <a:endParaRPr lang="en-US" sz="1420" dirty="0"/>
          </a:p>
        </p:txBody>
      </p:sp>
      <p:sp>
        <p:nvSpPr>
          <p:cNvPr id="9" name="Text 7"/>
          <p:cNvSpPr/>
          <p:nvPr/>
        </p:nvSpPr>
        <p:spPr>
          <a:xfrm>
            <a:off x="5486400" y="1572768"/>
            <a:ext cx="2926080" cy="292608"/>
          </a:xfrm>
          <a:prstGeom prst="rect">
            <a:avLst/>
          </a:prstGeom>
          <a:solidFill>
            <a:srgbClr val="3B82F6"/>
          </a:solidFill>
          <a:ln/>
        </p:spPr>
        <p:txBody>
          <a:bodyPr wrap="square" lIns="635" tIns="635" rIns="635" bIns="635" rtlCol="0" anchor="ctr"/>
          <a:lstStyle/>
          <a:p>
            <a:pPr marL="0" indent="0" algn="ctr">
              <a:buNone/>
            </a:pPr>
            <a:r>
              <a:rPr lang="en-US" sz="1400" b="1" dirty="0">
                <a:solidFill>
                  <a:srgbClr val="F8FAFC"/>
                </a:solidFill>
                <a:latin typeface="Arial" pitchFamily="34" charset="0"/>
                <a:ea typeface="Arial" pitchFamily="34" charset="-122"/>
                <a:cs typeface="Arial" pitchFamily="34" charset="-120"/>
              </a:rPr>
              <a:t>GUI Layer</a:t>
            </a:r>
            <a:endParaRPr lang="en-US" sz="1400" dirty="0"/>
          </a:p>
        </p:txBody>
      </p:sp>
      <p:sp>
        <p:nvSpPr>
          <p:cNvPr id="10" name="Text 8"/>
          <p:cNvSpPr/>
          <p:nvPr/>
        </p:nvSpPr>
        <p:spPr>
          <a:xfrm>
            <a:off x="8732520" y="1591056"/>
            <a:ext cx="2514600" cy="237744"/>
          </a:xfrm>
          <a:prstGeom prst="rect">
            <a:avLst/>
          </a:prstGeom>
          <a:noFill/>
          <a:ln/>
        </p:spPr>
        <p:txBody>
          <a:bodyPr wrap="square" lIns="0" tIns="0" rIns="0" bIns="0" rtlCol="0" anchor="ctr">
            <a:normAutofit/>
          </a:bodyPr>
          <a:lstStyle/>
          <a:p>
            <a:pPr marL="0" indent="0">
              <a:buNone/>
            </a:pPr>
            <a:r>
              <a:rPr lang="en-US" sz="1050" dirty="0">
                <a:solidFill>
                  <a:srgbClr val="CBD5E1"/>
                </a:solidFill>
                <a:latin typeface="Arial" pitchFamily="34" charset="0"/>
                <a:ea typeface="Arial" pitchFamily="34" charset="-122"/>
                <a:cs typeface="Arial" pitchFamily="34" charset="-120"/>
              </a:rPr>
              <a:t>Tkinter οθόνες και φόρμες</a:t>
            </a:r>
            <a:endParaRPr lang="en-US" sz="1050" dirty="0"/>
          </a:p>
        </p:txBody>
      </p:sp>
      <p:sp>
        <p:nvSpPr>
          <p:cNvPr id="11" name="Text 9"/>
          <p:cNvSpPr/>
          <p:nvPr/>
        </p:nvSpPr>
        <p:spPr>
          <a:xfrm>
            <a:off x="6784848" y="2066544"/>
            <a:ext cx="320040" cy="256032"/>
          </a:xfrm>
          <a:prstGeom prst="rect">
            <a:avLst/>
          </a:prstGeom>
          <a:noFill/>
          <a:ln/>
        </p:spPr>
        <p:txBody>
          <a:bodyPr wrap="square" lIns="0" tIns="0" rIns="0" bIns="0" rtlCol="0" anchor="ctr"/>
          <a:lstStyle/>
          <a:p>
            <a:pPr marL="0" indent="0" algn="ctr">
              <a:buNone/>
            </a:pPr>
            <a:r>
              <a:rPr lang="en-US" sz="1500" dirty="0">
                <a:solidFill>
                  <a:srgbClr val="60A5FA"/>
                </a:solidFill>
                <a:latin typeface="Arial" pitchFamily="34" charset="0"/>
                <a:ea typeface="Arial" pitchFamily="34" charset="-122"/>
                <a:cs typeface="Arial" pitchFamily="34" charset="-120"/>
              </a:rPr>
              <a:t>↓</a:t>
            </a:r>
            <a:endParaRPr lang="en-US" sz="1500" dirty="0"/>
          </a:p>
        </p:txBody>
      </p:sp>
      <p:sp>
        <p:nvSpPr>
          <p:cNvPr id="12" name="Text 10"/>
          <p:cNvSpPr/>
          <p:nvPr/>
        </p:nvSpPr>
        <p:spPr>
          <a:xfrm>
            <a:off x="5486400" y="2578608"/>
            <a:ext cx="2926080" cy="292608"/>
          </a:xfrm>
          <a:prstGeom prst="rect">
            <a:avLst/>
          </a:prstGeom>
          <a:solidFill>
            <a:srgbClr val="24304A"/>
          </a:solidFill>
          <a:ln/>
        </p:spPr>
        <p:txBody>
          <a:bodyPr wrap="square" lIns="635" tIns="635" rIns="635" bIns="635" rtlCol="0" anchor="ctr"/>
          <a:lstStyle/>
          <a:p>
            <a:pPr marL="0" indent="0" algn="ctr">
              <a:buNone/>
            </a:pPr>
            <a:r>
              <a:rPr lang="en-US" sz="1400" b="1" dirty="0">
                <a:solidFill>
                  <a:srgbClr val="F8FAFC"/>
                </a:solidFill>
                <a:latin typeface="Arial" pitchFamily="34" charset="0"/>
                <a:ea typeface="Arial" pitchFamily="34" charset="-122"/>
                <a:cs typeface="Arial" pitchFamily="34" charset="-120"/>
              </a:rPr>
              <a:t>Logic Layer</a:t>
            </a:r>
            <a:endParaRPr lang="en-US" sz="1400" dirty="0"/>
          </a:p>
        </p:txBody>
      </p:sp>
      <p:sp>
        <p:nvSpPr>
          <p:cNvPr id="13" name="Text 11"/>
          <p:cNvSpPr/>
          <p:nvPr/>
        </p:nvSpPr>
        <p:spPr>
          <a:xfrm>
            <a:off x="8732520" y="2596896"/>
            <a:ext cx="2514600" cy="237744"/>
          </a:xfrm>
          <a:prstGeom prst="rect">
            <a:avLst/>
          </a:prstGeom>
          <a:noFill/>
          <a:ln/>
        </p:spPr>
        <p:txBody>
          <a:bodyPr wrap="square" lIns="0" tIns="0" rIns="0" bIns="0" rtlCol="0" anchor="ctr">
            <a:normAutofit/>
          </a:bodyPr>
          <a:lstStyle/>
          <a:p>
            <a:pPr marL="0" indent="0">
              <a:buNone/>
            </a:pPr>
            <a:r>
              <a:rPr lang="en-US" sz="1050" dirty="0">
                <a:solidFill>
                  <a:srgbClr val="CBD5E1"/>
                </a:solidFill>
                <a:latin typeface="Arial" pitchFamily="34" charset="0"/>
                <a:ea typeface="Arial" pitchFamily="34" charset="-122"/>
                <a:cs typeface="Arial" pitchFamily="34" charset="-120"/>
              </a:rPr>
              <a:t>Validation, recurring, υπολογισμοί</a:t>
            </a:r>
            <a:endParaRPr lang="en-US" sz="1050" dirty="0"/>
          </a:p>
        </p:txBody>
      </p:sp>
      <p:sp>
        <p:nvSpPr>
          <p:cNvPr id="14" name="Text 12"/>
          <p:cNvSpPr/>
          <p:nvPr/>
        </p:nvSpPr>
        <p:spPr>
          <a:xfrm>
            <a:off x="6784848" y="3072384"/>
            <a:ext cx="320040" cy="256032"/>
          </a:xfrm>
          <a:prstGeom prst="rect">
            <a:avLst/>
          </a:prstGeom>
          <a:noFill/>
          <a:ln/>
        </p:spPr>
        <p:txBody>
          <a:bodyPr wrap="square" lIns="0" tIns="0" rIns="0" bIns="0" rtlCol="0" anchor="ctr"/>
          <a:lstStyle/>
          <a:p>
            <a:pPr marL="0" indent="0" algn="ctr">
              <a:buNone/>
            </a:pPr>
            <a:r>
              <a:rPr lang="en-US" sz="1500" dirty="0">
                <a:solidFill>
                  <a:srgbClr val="60A5FA"/>
                </a:solidFill>
                <a:latin typeface="Arial" pitchFamily="34" charset="0"/>
                <a:ea typeface="Arial" pitchFamily="34" charset="-122"/>
                <a:cs typeface="Arial" pitchFamily="34" charset="-120"/>
              </a:rPr>
              <a:t>↓</a:t>
            </a:r>
            <a:endParaRPr lang="en-US" sz="1500" dirty="0"/>
          </a:p>
        </p:txBody>
      </p:sp>
      <p:sp>
        <p:nvSpPr>
          <p:cNvPr id="15" name="Text 13"/>
          <p:cNvSpPr/>
          <p:nvPr/>
        </p:nvSpPr>
        <p:spPr>
          <a:xfrm>
            <a:off x="5486400" y="3584448"/>
            <a:ext cx="2926080" cy="292608"/>
          </a:xfrm>
          <a:prstGeom prst="rect">
            <a:avLst/>
          </a:prstGeom>
          <a:solidFill>
            <a:srgbClr val="24304A"/>
          </a:solidFill>
          <a:ln/>
        </p:spPr>
        <p:txBody>
          <a:bodyPr wrap="square" lIns="635" tIns="635" rIns="635" bIns="635" rtlCol="0" anchor="ctr"/>
          <a:lstStyle/>
          <a:p>
            <a:pPr marL="0" indent="0" algn="ctr">
              <a:buNone/>
            </a:pPr>
            <a:r>
              <a:rPr lang="en-US" sz="1400" b="1" dirty="0">
                <a:solidFill>
                  <a:srgbClr val="F8FAFC"/>
                </a:solidFill>
                <a:latin typeface="Arial" pitchFamily="34" charset="0"/>
                <a:ea typeface="Arial" pitchFamily="34" charset="-122"/>
                <a:cs typeface="Arial" pitchFamily="34" charset="-120"/>
              </a:rPr>
              <a:t>Database Layer</a:t>
            </a:r>
            <a:endParaRPr lang="en-US" sz="1400" dirty="0"/>
          </a:p>
        </p:txBody>
      </p:sp>
      <p:sp>
        <p:nvSpPr>
          <p:cNvPr id="16" name="Text 14"/>
          <p:cNvSpPr/>
          <p:nvPr/>
        </p:nvSpPr>
        <p:spPr>
          <a:xfrm>
            <a:off x="8732520" y="3602736"/>
            <a:ext cx="2514600" cy="237744"/>
          </a:xfrm>
          <a:prstGeom prst="rect">
            <a:avLst/>
          </a:prstGeom>
          <a:noFill/>
          <a:ln/>
        </p:spPr>
        <p:txBody>
          <a:bodyPr wrap="square" lIns="0" tIns="0" rIns="0" bIns="0" rtlCol="0" anchor="ctr">
            <a:normAutofit/>
          </a:bodyPr>
          <a:lstStyle/>
          <a:p>
            <a:pPr marL="0" indent="0">
              <a:buNone/>
            </a:pPr>
            <a:r>
              <a:rPr lang="en-US" sz="1050" dirty="0">
                <a:solidFill>
                  <a:srgbClr val="CBD5E1"/>
                </a:solidFill>
                <a:latin typeface="Arial" pitchFamily="34" charset="0"/>
                <a:ea typeface="Arial" pitchFamily="34" charset="-122"/>
                <a:cs typeface="Arial" pitchFamily="34" charset="-120"/>
              </a:rPr>
              <a:t>CRUD, queries, foreign keys</a:t>
            </a:r>
            <a:endParaRPr lang="en-US" sz="1050" dirty="0"/>
          </a:p>
        </p:txBody>
      </p:sp>
      <p:sp>
        <p:nvSpPr>
          <p:cNvPr id="17" name="Text 15"/>
          <p:cNvSpPr/>
          <p:nvPr/>
        </p:nvSpPr>
        <p:spPr>
          <a:xfrm>
            <a:off x="6784848" y="4078224"/>
            <a:ext cx="320040" cy="256032"/>
          </a:xfrm>
          <a:prstGeom prst="rect">
            <a:avLst/>
          </a:prstGeom>
          <a:noFill/>
          <a:ln/>
        </p:spPr>
        <p:txBody>
          <a:bodyPr wrap="square" lIns="0" tIns="0" rIns="0" bIns="0" rtlCol="0" anchor="ctr"/>
          <a:lstStyle/>
          <a:p>
            <a:pPr marL="0" indent="0" algn="ctr">
              <a:buNone/>
            </a:pPr>
            <a:r>
              <a:rPr lang="en-US" sz="1500" dirty="0">
                <a:solidFill>
                  <a:srgbClr val="60A5FA"/>
                </a:solidFill>
                <a:latin typeface="Arial" pitchFamily="34" charset="0"/>
                <a:ea typeface="Arial" pitchFamily="34" charset="-122"/>
                <a:cs typeface="Arial" pitchFamily="34" charset="-120"/>
              </a:rPr>
              <a:t>↓</a:t>
            </a:r>
            <a:endParaRPr lang="en-US" sz="1500" dirty="0"/>
          </a:p>
        </p:txBody>
      </p:sp>
      <p:sp>
        <p:nvSpPr>
          <p:cNvPr id="18" name="Text 16"/>
          <p:cNvSpPr/>
          <p:nvPr/>
        </p:nvSpPr>
        <p:spPr>
          <a:xfrm>
            <a:off x="5486400" y="4590288"/>
            <a:ext cx="2926080" cy="292608"/>
          </a:xfrm>
          <a:prstGeom prst="rect">
            <a:avLst/>
          </a:prstGeom>
          <a:solidFill>
            <a:srgbClr val="22C55E"/>
          </a:solidFill>
          <a:ln/>
        </p:spPr>
        <p:txBody>
          <a:bodyPr wrap="square" lIns="635" tIns="635" rIns="635" bIns="635" rtlCol="0" anchor="ctr"/>
          <a:lstStyle/>
          <a:p>
            <a:pPr marL="0" indent="0" algn="ctr">
              <a:buNone/>
            </a:pPr>
            <a:r>
              <a:rPr lang="en-US" sz="1400" b="1" dirty="0">
                <a:solidFill>
                  <a:srgbClr val="F8FAFC"/>
                </a:solidFill>
                <a:latin typeface="Arial" pitchFamily="34" charset="0"/>
                <a:ea typeface="Arial" pitchFamily="34" charset="-122"/>
                <a:cs typeface="Arial" pitchFamily="34" charset="-120"/>
              </a:rPr>
              <a:t>SQLite Database</a:t>
            </a:r>
            <a:endParaRPr lang="en-US" sz="1400" dirty="0"/>
          </a:p>
        </p:txBody>
      </p:sp>
      <p:sp>
        <p:nvSpPr>
          <p:cNvPr id="19" name="Text 17"/>
          <p:cNvSpPr/>
          <p:nvPr/>
        </p:nvSpPr>
        <p:spPr>
          <a:xfrm>
            <a:off x="8732520" y="4608576"/>
            <a:ext cx="2514600" cy="237744"/>
          </a:xfrm>
          <a:prstGeom prst="rect">
            <a:avLst/>
          </a:prstGeom>
          <a:noFill/>
          <a:ln/>
        </p:spPr>
        <p:txBody>
          <a:bodyPr wrap="square" lIns="0" tIns="0" rIns="0" bIns="0" rtlCol="0" anchor="ctr">
            <a:normAutofit/>
          </a:bodyPr>
          <a:lstStyle/>
          <a:p>
            <a:pPr marL="0" indent="0">
              <a:buNone/>
            </a:pPr>
            <a:r>
              <a:rPr lang="en-US" sz="1050" dirty="0">
                <a:solidFill>
                  <a:srgbClr val="CBD5E1"/>
                </a:solidFill>
                <a:latin typeface="Arial" pitchFamily="34" charset="0"/>
                <a:ea typeface="Arial" pitchFamily="34" charset="-122"/>
                <a:cs typeface="Arial" pitchFamily="34" charset="-120"/>
              </a:rPr>
              <a:t>Τοπική αποθήκευση finance.db</a:t>
            </a:r>
            <a:endParaRPr lang="en-US" sz="1050" dirty="0"/>
          </a:p>
        </p:txBody>
      </p:sp>
      <p:sp>
        <p:nvSpPr>
          <p:cNvPr id="20" name="Text 18"/>
          <p:cNvSpPr/>
          <p:nvPr/>
        </p:nvSpPr>
        <p:spPr>
          <a:xfrm>
            <a:off x="5486400" y="5559552"/>
            <a:ext cx="5394960" cy="347472"/>
          </a:xfrm>
          <a:prstGeom prst="rect">
            <a:avLst/>
          </a:prstGeom>
          <a:noFill/>
          <a:ln/>
        </p:spPr>
        <p:txBody>
          <a:bodyPr wrap="square" lIns="0" tIns="0" rIns="0" bIns="0" rtlCol="0" anchor="ctr"/>
          <a:lstStyle/>
          <a:p>
            <a:pPr marL="0" indent="0">
              <a:buNone/>
            </a:pPr>
            <a:r>
              <a:rPr lang="en-US" sz="1400" b="1" dirty="0">
                <a:solidFill>
                  <a:srgbClr val="60A5FA"/>
                </a:solidFill>
                <a:latin typeface="Arial" pitchFamily="34" charset="0"/>
                <a:ea typeface="Arial" pitchFamily="34" charset="-122"/>
                <a:cs typeface="Arial" pitchFamily="34" charset="-120"/>
              </a:rPr>
              <a:t>Σημαντική επιλογή: το GUI δεν γράφει SQL απευθείας.</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02920" y="320040"/>
            <a:ext cx="8412480" cy="384048"/>
          </a:xfrm>
          <a:prstGeom prst="rect">
            <a:avLst/>
          </a:prstGeom>
          <a:noFill/>
          <a:ln/>
        </p:spPr>
        <p:txBody>
          <a:bodyPr wrap="square" lIns="0" tIns="0" rIns="0" bIns="0" rtlCol="0" anchor="ctr"/>
          <a:lstStyle/>
          <a:p>
            <a:pPr marL="0" indent="0">
              <a:buNone/>
            </a:pPr>
            <a:r>
              <a:rPr lang="en-US" sz="2400" b="1" dirty="0">
                <a:solidFill>
                  <a:srgbClr val="F8FAFC"/>
                </a:solidFill>
                <a:latin typeface="Arial" pitchFamily="34" charset="0"/>
                <a:ea typeface="Arial" pitchFamily="34" charset="-122"/>
                <a:cs typeface="Arial" pitchFamily="34" charset="-120"/>
              </a:rPr>
              <a:t>Βάση δεδομένων και βασικές παραδοχές</a:t>
            </a:r>
            <a:endParaRPr lang="en-US" sz="2400" dirty="0"/>
          </a:p>
        </p:txBody>
      </p:sp>
      <p:sp>
        <p:nvSpPr>
          <p:cNvPr id="3" name="Text 1"/>
          <p:cNvSpPr/>
          <p:nvPr/>
        </p:nvSpPr>
        <p:spPr>
          <a:xfrm>
            <a:off x="521208" y="749808"/>
            <a:ext cx="8046720" cy="219456"/>
          </a:xfrm>
          <a:prstGeom prst="rect">
            <a:avLst/>
          </a:prstGeom>
          <a:noFill/>
          <a:ln/>
        </p:spPr>
        <p:txBody>
          <a:bodyPr wrap="square" lIns="0" tIns="0" rIns="0" bIns="0" rtlCol="0" anchor="ctr"/>
          <a:lstStyle/>
          <a:p>
            <a:pPr marL="0" indent="0">
              <a:buNone/>
            </a:pPr>
            <a:r>
              <a:rPr lang="en-US" sz="1050" dirty="0">
                <a:solidFill>
                  <a:srgbClr val="94A3B8"/>
                </a:solidFill>
                <a:latin typeface="Arial" pitchFamily="34" charset="0"/>
                <a:ea typeface="Arial" pitchFamily="34" charset="-122"/>
                <a:cs typeface="Arial" pitchFamily="34" charset="-120"/>
              </a:rPr>
              <a:t>Τρεις βασικοί πίνακες και σχέσεις 1:N μέσω SQLite foreign keys</a:t>
            </a:r>
            <a:endParaRPr lang="en-US" sz="1050" dirty="0"/>
          </a:p>
        </p:txBody>
      </p:sp>
      <p:sp>
        <p:nvSpPr>
          <p:cNvPr id="4" name="Shape 2"/>
          <p:cNvSpPr/>
          <p:nvPr/>
        </p:nvSpPr>
        <p:spPr>
          <a:xfrm>
            <a:off x="502920" y="1078992"/>
            <a:ext cx="11201400" cy="0"/>
          </a:xfrm>
          <a:prstGeom prst="line">
            <a:avLst/>
          </a:prstGeom>
          <a:noFill/>
          <a:ln w="10160">
            <a:solidFill>
              <a:srgbClr val="334155"/>
            </a:solidFill>
            <a:prstDash val="solid"/>
          </a:ln>
        </p:spPr>
      </p:sp>
      <p:sp>
        <p:nvSpPr>
          <p:cNvPr id="5" name="Shape 3"/>
          <p:cNvSpPr/>
          <p:nvPr/>
        </p:nvSpPr>
        <p:spPr>
          <a:xfrm>
            <a:off x="502920" y="1078992"/>
            <a:ext cx="1234440" cy="0"/>
          </a:xfrm>
          <a:prstGeom prst="line">
            <a:avLst/>
          </a:prstGeom>
          <a:noFill/>
          <a:ln w="30480">
            <a:solidFill>
              <a:srgbClr val="3B82F6"/>
            </a:solidFill>
            <a:prstDash val="solid"/>
          </a:ln>
        </p:spPr>
      </p:sp>
      <p:sp>
        <p:nvSpPr>
          <p:cNvPr id="6" name="Text 4"/>
          <p:cNvSpPr/>
          <p:nvPr/>
        </p:nvSpPr>
        <p:spPr>
          <a:xfrm>
            <a:off x="502920" y="6473952"/>
            <a:ext cx="6400800" cy="164592"/>
          </a:xfrm>
          <a:prstGeom prst="rect">
            <a:avLst/>
          </a:prstGeom>
          <a:noFill/>
          <a:ln/>
        </p:spPr>
        <p:txBody>
          <a:bodyPr wrap="square" lIns="0" tIns="0" rIns="0" bIns="0" rtlCol="0" anchor="ctr"/>
          <a:lstStyle/>
          <a:p>
            <a:pPr marL="0" indent="0">
              <a:buNone/>
            </a:pPr>
            <a:r>
              <a:rPr lang="en-US" sz="750" dirty="0">
                <a:solidFill>
                  <a:srgbClr val="94A3B8"/>
                </a:solidFill>
                <a:latin typeface="Arial" pitchFamily="34" charset="0"/>
                <a:ea typeface="Arial" pitchFamily="34" charset="-122"/>
                <a:cs typeface="Arial" pitchFamily="34" charset="-120"/>
              </a:rPr>
              <a:t>ΠΛΗΠΡΟ - Project 06 | Personal Finance Manager</a:t>
            </a:r>
            <a:endParaRPr lang="en-US" sz="750" dirty="0"/>
          </a:p>
        </p:txBody>
      </p:sp>
      <p:sp>
        <p:nvSpPr>
          <p:cNvPr id="7" name="Text 5"/>
          <p:cNvSpPr/>
          <p:nvPr/>
        </p:nvSpPr>
        <p:spPr>
          <a:xfrm>
            <a:off x="11292840" y="6428232"/>
            <a:ext cx="347472" cy="228600"/>
          </a:xfrm>
          <a:prstGeom prst="rect">
            <a:avLst/>
          </a:prstGeom>
          <a:noFill/>
          <a:ln/>
        </p:spPr>
        <p:txBody>
          <a:bodyPr wrap="square" lIns="0" tIns="0" rIns="0" bIns="0" rtlCol="0" anchor="ctr"/>
          <a:lstStyle/>
          <a:p>
            <a:pPr marL="0" indent="0" algn="ctr">
              <a:buNone/>
            </a:pPr>
            <a:r>
              <a:rPr lang="en-US" sz="850" b="1" dirty="0">
                <a:solidFill>
                  <a:srgbClr val="60A5FA"/>
                </a:solidFill>
                <a:latin typeface="Arial" pitchFamily="34" charset="0"/>
                <a:ea typeface="Arial" pitchFamily="34" charset="-122"/>
                <a:cs typeface="Arial" pitchFamily="34" charset="-120"/>
              </a:rPr>
              <a:t>05</a:t>
            </a:r>
            <a:endParaRPr lang="en-US" sz="850" dirty="0"/>
          </a:p>
        </p:txBody>
      </p:sp>
      <p:pic>
        <p:nvPicPr>
          <p:cNvPr id="8" name="Image 0" descr="/mnt/data/ERD_Personal_Finance.png"/>
          <p:cNvPicPr>
            <a:picLocks noChangeAspect="1"/>
          </p:cNvPicPr>
          <p:nvPr/>
        </p:nvPicPr>
        <p:blipFill>
          <a:blip r:embed="rId3"/>
          <a:stretch>
            <a:fillRect/>
          </a:stretch>
        </p:blipFill>
        <p:spPr>
          <a:xfrm>
            <a:off x="594360" y="1308219"/>
            <a:ext cx="5486400" cy="4342145"/>
          </a:xfrm>
          <a:prstGeom prst="rect">
            <a:avLst/>
          </a:prstGeom>
        </p:spPr>
      </p:pic>
      <p:sp>
        <p:nvSpPr>
          <p:cNvPr id="9" name="Shape 6"/>
          <p:cNvSpPr/>
          <p:nvPr/>
        </p:nvSpPr>
        <p:spPr>
          <a:xfrm>
            <a:off x="594360" y="1307592"/>
            <a:ext cx="5486400" cy="4343400"/>
          </a:xfrm>
          <a:prstGeom prst="rect">
            <a:avLst/>
          </a:prstGeom>
          <a:solidFill>
            <a:srgbClr val="FFFFFF">
              <a:alpha val="0"/>
            </a:srgbClr>
          </a:solidFill>
          <a:ln w="7620">
            <a:solidFill>
              <a:srgbClr val="334155"/>
            </a:solidFill>
            <a:prstDash val="solid"/>
          </a:ln>
        </p:spPr>
      </p:sp>
      <p:sp>
        <p:nvSpPr>
          <p:cNvPr id="10" name="Text 7"/>
          <p:cNvSpPr/>
          <p:nvPr/>
        </p:nvSpPr>
        <p:spPr>
          <a:xfrm>
            <a:off x="6400800" y="1325880"/>
            <a:ext cx="5074920" cy="3474720"/>
          </a:xfrm>
          <a:prstGeom prst="rect">
            <a:avLst/>
          </a:prstGeom>
          <a:noFill/>
          <a:ln/>
        </p:spPr>
        <p:txBody>
          <a:bodyPr wrap="square" lIns="635" tIns="635" rIns="635" bIns="635" rtlCol="0" anchor="t">
            <a:normAutofit/>
          </a:bodyPr>
          <a:lstStyle/>
          <a:p>
            <a:pPr marL="0" indent="0">
              <a:buNone/>
            </a:pPr>
            <a:r>
              <a:rPr lang="en-US" sz="1600" b="1" u="sng" dirty="0">
                <a:solidFill>
                  <a:srgbClr val="60A5FA"/>
                </a:solidFill>
                <a:latin typeface="Arial" pitchFamily="34" charset="0"/>
                <a:ea typeface="Arial" pitchFamily="34" charset="-122"/>
                <a:cs typeface="Arial" pitchFamily="34" charset="-120"/>
              </a:rPr>
              <a:t>Κεντρικές επ</a:t>
            </a:r>
            <a:r>
              <a:rPr lang="en-US" sz="1600" b="1" u="sng" dirty="0" err="1">
                <a:solidFill>
                  <a:srgbClr val="60A5FA"/>
                </a:solidFill>
                <a:latin typeface="Arial" pitchFamily="34" charset="0"/>
                <a:ea typeface="Arial" pitchFamily="34" charset="-122"/>
                <a:cs typeface="Arial" pitchFamily="34" charset="-120"/>
              </a:rPr>
              <a:t>ιλογές</a:t>
            </a:r>
            <a:r>
              <a:rPr lang="en-US" sz="1600" b="1" u="sng" dirty="0">
                <a:solidFill>
                  <a:srgbClr val="60A5FA"/>
                </a:solidFill>
                <a:latin typeface="Arial" pitchFamily="34" charset="0"/>
                <a:ea typeface="Arial" pitchFamily="34" charset="-122"/>
                <a:cs typeface="Arial" pitchFamily="34" charset="-120"/>
              </a:rPr>
              <a:t> </a:t>
            </a:r>
            <a:r>
              <a:rPr lang="en-US" sz="1600" b="1" u="sng" dirty="0" err="1">
                <a:solidFill>
                  <a:srgbClr val="60A5FA"/>
                </a:solidFill>
                <a:latin typeface="Arial" pitchFamily="34" charset="0"/>
                <a:ea typeface="Arial" pitchFamily="34" charset="-122"/>
                <a:cs typeface="Arial" pitchFamily="34" charset="-120"/>
              </a:rPr>
              <a:t>σχεδι</a:t>
            </a:r>
            <a:r>
              <a:rPr lang="en-US" sz="1600" b="1" u="sng" dirty="0">
                <a:solidFill>
                  <a:srgbClr val="60A5FA"/>
                </a:solidFill>
                <a:latin typeface="Arial" pitchFamily="34" charset="0"/>
                <a:ea typeface="Arial" pitchFamily="34" charset="-122"/>
                <a:cs typeface="Arial" pitchFamily="34" charset="-120"/>
              </a:rPr>
              <a:t>ασμού</a:t>
            </a:r>
            <a:endParaRPr lang="el-GR" sz="1600" b="1" u="sng" dirty="0">
              <a:solidFill>
                <a:srgbClr val="60A5FA"/>
              </a:solidFill>
              <a:latin typeface="Arial" pitchFamily="34" charset="0"/>
              <a:ea typeface="Arial" pitchFamily="34" charset="-122"/>
              <a:cs typeface="Arial" pitchFamily="34" charset="-120"/>
            </a:endParaRPr>
          </a:p>
          <a:p>
            <a:pPr marL="0" indent="0">
              <a:buNone/>
            </a:pPr>
            <a:endParaRPr lang="en-US" sz="1340" u="sng" dirty="0"/>
          </a:p>
          <a:p>
            <a:pPr marL="285750" indent="-285750">
              <a:buFont typeface="Arial" panose="020B0604020202020204" pitchFamily="34" charset="0"/>
              <a:buChar char="•"/>
            </a:pPr>
            <a:r>
              <a:rPr lang="en-US" sz="1340" dirty="0">
                <a:solidFill>
                  <a:srgbClr val="E5E7EB"/>
                </a:solidFill>
                <a:latin typeface="Arial" pitchFamily="34" charset="0"/>
                <a:ea typeface="Arial" pitchFamily="34" charset="-122"/>
                <a:cs typeface="Arial" pitchFamily="34" charset="-120"/>
              </a:rPr>
              <a:t>Categories: κοινή λίστα για έσοδα και έξοδα.</a:t>
            </a:r>
            <a:endParaRPr lang="en-US" sz="1340" dirty="0"/>
          </a:p>
          <a:p>
            <a:pPr marL="285750" indent="-285750">
              <a:buFont typeface="Arial" panose="020B0604020202020204" pitchFamily="34" charset="0"/>
              <a:buChar char="•"/>
            </a:pPr>
            <a:r>
              <a:rPr lang="en-US" sz="1340" dirty="0">
                <a:solidFill>
                  <a:srgbClr val="E5E7EB"/>
                </a:solidFill>
                <a:latin typeface="Arial" pitchFamily="34" charset="0"/>
                <a:ea typeface="Arial" pitchFamily="34" charset="-122"/>
                <a:cs typeface="Arial" pitchFamily="34" charset="-120"/>
              </a:rPr>
              <a:t>Transactions: πραγματικές οικονομικές κινήσεις.</a:t>
            </a:r>
            <a:endParaRPr lang="en-US" sz="1340" dirty="0"/>
          </a:p>
          <a:p>
            <a:pPr marL="285750" indent="-285750">
              <a:buFont typeface="Arial" panose="020B0604020202020204" pitchFamily="34" charset="0"/>
              <a:buChar char="•"/>
            </a:pPr>
            <a:r>
              <a:rPr lang="en-US" sz="1340" dirty="0">
                <a:solidFill>
                  <a:srgbClr val="E5E7EB"/>
                </a:solidFill>
                <a:latin typeface="Arial" pitchFamily="34" charset="0"/>
                <a:ea typeface="Arial" pitchFamily="34" charset="-122"/>
                <a:cs typeface="Arial" pitchFamily="34" charset="-120"/>
              </a:rPr>
              <a:t>Recurring_Transactions: πρότυπα μηνιαίων κινήσεων.</a:t>
            </a:r>
            <a:endParaRPr lang="en-US" sz="1340" dirty="0"/>
          </a:p>
          <a:p>
            <a:pPr marL="285750" indent="-285750">
              <a:buFont typeface="Arial" panose="020B0604020202020204" pitchFamily="34" charset="0"/>
              <a:buChar char="•"/>
            </a:pPr>
            <a:r>
              <a:rPr lang="en-US" sz="1340" dirty="0">
                <a:solidFill>
                  <a:srgbClr val="E5E7EB"/>
                </a:solidFill>
                <a:latin typeface="Arial" pitchFamily="34" charset="0"/>
                <a:ea typeface="Arial" pitchFamily="34" charset="-122"/>
                <a:cs typeface="Arial" pitchFamily="34" charset="-120"/>
              </a:rPr>
              <a:t>ON DELETE RESTRICT: δεν διαγράφεται κατηγορία που χρησιμοποιείται.</a:t>
            </a:r>
            <a:endParaRPr lang="en-US" sz="1340" dirty="0"/>
          </a:p>
          <a:p>
            <a:pPr marL="285750" indent="-285750">
              <a:buFont typeface="Arial" panose="020B0604020202020204" pitchFamily="34" charset="0"/>
              <a:buChar char="•"/>
            </a:pPr>
            <a:r>
              <a:rPr lang="en-US" sz="1340" dirty="0">
                <a:solidFill>
                  <a:srgbClr val="E5E7EB"/>
                </a:solidFill>
                <a:latin typeface="Arial" pitchFamily="34" charset="0"/>
                <a:ea typeface="Arial" pitchFamily="34" charset="-122"/>
                <a:cs typeface="Arial" pitchFamily="34" charset="-120"/>
              </a:rPr>
              <a:t>Ημερομηνίες στη βάση σε YYYY-MM-DD για σωστό φιλτράρισμα.</a:t>
            </a:r>
            <a:endParaRPr lang="en-US" sz="1340" dirty="0"/>
          </a:p>
          <a:p>
            <a:pPr marL="285750" indent="-285750">
              <a:buFont typeface="Arial" panose="020B0604020202020204" pitchFamily="34" charset="0"/>
              <a:buChar char="•"/>
            </a:pPr>
            <a:r>
              <a:rPr lang="en-US" sz="1340" dirty="0">
                <a:solidFill>
                  <a:srgbClr val="E5E7EB"/>
                </a:solidFill>
                <a:latin typeface="Arial" pitchFamily="34" charset="0"/>
                <a:ea typeface="Arial" pitchFamily="34" charset="-122"/>
                <a:cs typeface="Arial" pitchFamily="34" charset="-120"/>
              </a:rPr>
              <a:t>Στο GUI εμφανίζονται σε DD-MM-YYYY για ελληνικό περιβάλλον.</a:t>
            </a:r>
            <a:endParaRPr lang="en-US" sz="1340" dirty="0"/>
          </a:p>
        </p:txBody>
      </p:sp>
      <p:sp>
        <p:nvSpPr>
          <p:cNvPr id="11" name="Text 8"/>
          <p:cNvSpPr/>
          <p:nvPr/>
        </p:nvSpPr>
        <p:spPr>
          <a:xfrm>
            <a:off x="6400800" y="5193792"/>
            <a:ext cx="4983480" cy="594360"/>
          </a:xfrm>
          <a:prstGeom prst="rect">
            <a:avLst/>
          </a:prstGeom>
          <a:noFill/>
          <a:ln/>
        </p:spPr>
        <p:txBody>
          <a:bodyPr wrap="square" lIns="254" tIns="254" rIns="254" bIns="254" rtlCol="0" anchor="ctr">
            <a:normAutofit/>
          </a:bodyPr>
          <a:lstStyle/>
          <a:p>
            <a:pPr marL="0" indent="0">
              <a:buNone/>
            </a:pPr>
            <a:r>
              <a:rPr lang="en-US" sz="1260" b="1" dirty="0">
                <a:solidFill>
                  <a:srgbClr val="CBD5E1"/>
                </a:solidFill>
                <a:latin typeface="Arial" pitchFamily="34" charset="0"/>
                <a:ea typeface="Arial" pitchFamily="34" charset="-122"/>
                <a:cs typeface="Arial" pitchFamily="34" charset="-120"/>
              </a:rPr>
              <a:t>Τα ποσά αποθηκεύονται θετικά στη βάση. Στα reports τα έξοδα εμφανίζονται με αρνητικό πρόσημο για πιο φυσική ανάγνωση.</a:t>
            </a:r>
            <a:endParaRPr lang="en-US" sz="1260"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02920" y="320040"/>
            <a:ext cx="8412480" cy="384048"/>
          </a:xfrm>
          <a:prstGeom prst="rect">
            <a:avLst/>
          </a:prstGeom>
          <a:noFill/>
          <a:ln/>
        </p:spPr>
        <p:txBody>
          <a:bodyPr wrap="square" lIns="0" tIns="0" rIns="0" bIns="0" rtlCol="0" anchor="ctr"/>
          <a:lstStyle/>
          <a:p>
            <a:pPr marL="0" indent="0">
              <a:buNone/>
            </a:pPr>
            <a:r>
              <a:rPr lang="en-US" sz="2400" b="1" dirty="0">
                <a:solidFill>
                  <a:srgbClr val="F8FAFC"/>
                </a:solidFill>
                <a:latin typeface="Arial" pitchFamily="34" charset="0"/>
                <a:ea typeface="Arial" pitchFamily="34" charset="-122"/>
                <a:cs typeface="Arial" pitchFamily="34" charset="-120"/>
              </a:rPr>
              <a:t>Συναλλαγές και φίλτρα</a:t>
            </a:r>
            <a:endParaRPr lang="en-US" sz="2400" dirty="0"/>
          </a:p>
        </p:txBody>
      </p:sp>
      <p:sp>
        <p:nvSpPr>
          <p:cNvPr id="3" name="Text 1"/>
          <p:cNvSpPr/>
          <p:nvPr/>
        </p:nvSpPr>
        <p:spPr>
          <a:xfrm>
            <a:off x="521208" y="749808"/>
            <a:ext cx="8046720" cy="219456"/>
          </a:xfrm>
          <a:prstGeom prst="rect">
            <a:avLst/>
          </a:prstGeom>
          <a:noFill/>
          <a:ln/>
        </p:spPr>
        <p:txBody>
          <a:bodyPr wrap="square" lIns="0" tIns="0" rIns="0" bIns="0" rtlCol="0" anchor="ctr"/>
          <a:lstStyle/>
          <a:p>
            <a:pPr marL="0" indent="0">
              <a:buNone/>
            </a:pPr>
            <a:r>
              <a:rPr lang="en-US" sz="1050" dirty="0">
                <a:solidFill>
                  <a:srgbClr val="94A3B8"/>
                </a:solidFill>
                <a:latin typeface="Arial" pitchFamily="34" charset="0"/>
                <a:ea typeface="Arial" pitchFamily="34" charset="-122"/>
                <a:cs typeface="Arial" pitchFamily="34" charset="-120"/>
              </a:rPr>
              <a:t>Η βασική οθόνη εργασίας του χρήστη</a:t>
            </a:r>
            <a:endParaRPr lang="en-US" sz="1050" dirty="0"/>
          </a:p>
        </p:txBody>
      </p:sp>
      <p:sp>
        <p:nvSpPr>
          <p:cNvPr id="4" name="Shape 2"/>
          <p:cNvSpPr/>
          <p:nvPr/>
        </p:nvSpPr>
        <p:spPr>
          <a:xfrm>
            <a:off x="502920" y="1078992"/>
            <a:ext cx="11201400" cy="0"/>
          </a:xfrm>
          <a:prstGeom prst="line">
            <a:avLst/>
          </a:prstGeom>
          <a:noFill/>
          <a:ln w="10160">
            <a:solidFill>
              <a:srgbClr val="334155"/>
            </a:solidFill>
            <a:prstDash val="solid"/>
          </a:ln>
        </p:spPr>
      </p:sp>
      <p:sp>
        <p:nvSpPr>
          <p:cNvPr id="5" name="Shape 3"/>
          <p:cNvSpPr/>
          <p:nvPr/>
        </p:nvSpPr>
        <p:spPr>
          <a:xfrm>
            <a:off x="502920" y="1078992"/>
            <a:ext cx="1234440" cy="0"/>
          </a:xfrm>
          <a:prstGeom prst="line">
            <a:avLst/>
          </a:prstGeom>
          <a:noFill/>
          <a:ln w="30480">
            <a:solidFill>
              <a:srgbClr val="3B82F6"/>
            </a:solidFill>
            <a:prstDash val="solid"/>
          </a:ln>
        </p:spPr>
      </p:sp>
      <p:sp>
        <p:nvSpPr>
          <p:cNvPr id="6" name="Text 4"/>
          <p:cNvSpPr/>
          <p:nvPr/>
        </p:nvSpPr>
        <p:spPr>
          <a:xfrm>
            <a:off x="502920" y="6473952"/>
            <a:ext cx="6400800" cy="164592"/>
          </a:xfrm>
          <a:prstGeom prst="rect">
            <a:avLst/>
          </a:prstGeom>
          <a:noFill/>
          <a:ln/>
        </p:spPr>
        <p:txBody>
          <a:bodyPr wrap="square" lIns="0" tIns="0" rIns="0" bIns="0" rtlCol="0" anchor="ctr"/>
          <a:lstStyle/>
          <a:p>
            <a:pPr marL="0" indent="0">
              <a:buNone/>
            </a:pPr>
            <a:r>
              <a:rPr lang="en-US" sz="750" dirty="0">
                <a:solidFill>
                  <a:srgbClr val="94A3B8"/>
                </a:solidFill>
                <a:latin typeface="Arial" pitchFamily="34" charset="0"/>
                <a:ea typeface="Arial" pitchFamily="34" charset="-122"/>
                <a:cs typeface="Arial" pitchFamily="34" charset="-120"/>
              </a:rPr>
              <a:t>ΠΛΗΠΡΟ - Project 06 | Personal Finance Manager</a:t>
            </a:r>
            <a:endParaRPr lang="en-US" sz="750" dirty="0"/>
          </a:p>
        </p:txBody>
      </p:sp>
      <p:sp>
        <p:nvSpPr>
          <p:cNvPr id="7" name="Text 5"/>
          <p:cNvSpPr/>
          <p:nvPr/>
        </p:nvSpPr>
        <p:spPr>
          <a:xfrm>
            <a:off x="11292840" y="6428232"/>
            <a:ext cx="347472" cy="228600"/>
          </a:xfrm>
          <a:prstGeom prst="rect">
            <a:avLst/>
          </a:prstGeom>
          <a:noFill/>
          <a:ln/>
        </p:spPr>
        <p:txBody>
          <a:bodyPr wrap="square" lIns="0" tIns="0" rIns="0" bIns="0" rtlCol="0" anchor="ctr"/>
          <a:lstStyle/>
          <a:p>
            <a:pPr marL="0" indent="0" algn="ctr">
              <a:buNone/>
            </a:pPr>
            <a:r>
              <a:rPr lang="en-US" sz="850" b="1" dirty="0">
                <a:solidFill>
                  <a:srgbClr val="60A5FA"/>
                </a:solidFill>
                <a:latin typeface="Arial" pitchFamily="34" charset="0"/>
                <a:ea typeface="Arial" pitchFamily="34" charset="-122"/>
                <a:cs typeface="Arial" pitchFamily="34" charset="-120"/>
              </a:rPr>
              <a:t>06</a:t>
            </a:r>
            <a:endParaRPr lang="en-US" sz="850" dirty="0"/>
          </a:p>
        </p:txBody>
      </p:sp>
      <p:pic>
        <p:nvPicPr>
          <p:cNvPr id="8" name="Image 0" descr="/mnt/data/S01_transactions_main.png"/>
          <p:cNvPicPr>
            <a:picLocks noChangeAspect="1"/>
          </p:cNvPicPr>
          <p:nvPr/>
        </p:nvPicPr>
        <p:blipFill>
          <a:blip r:embed="rId3"/>
          <a:stretch>
            <a:fillRect/>
          </a:stretch>
        </p:blipFill>
        <p:spPr>
          <a:xfrm>
            <a:off x="1004855" y="1325880"/>
            <a:ext cx="4573970" cy="2788920"/>
          </a:xfrm>
          <a:prstGeom prst="rect">
            <a:avLst/>
          </a:prstGeom>
        </p:spPr>
      </p:pic>
      <p:sp>
        <p:nvSpPr>
          <p:cNvPr id="9" name="Shape 6"/>
          <p:cNvSpPr/>
          <p:nvPr/>
        </p:nvSpPr>
        <p:spPr>
          <a:xfrm>
            <a:off x="594360" y="1325880"/>
            <a:ext cx="5394960" cy="2788920"/>
          </a:xfrm>
          <a:prstGeom prst="rect">
            <a:avLst/>
          </a:prstGeom>
          <a:solidFill>
            <a:srgbClr val="FFFFFF">
              <a:alpha val="0"/>
            </a:srgbClr>
          </a:solidFill>
          <a:ln w="7620">
            <a:solidFill>
              <a:srgbClr val="334155"/>
            </a:solidFill>
            <a:prstDash val="solid"/>
          </a:ln>
        </p:spPr>
      </p:sp>
      <p:pic>
        <p:nvPicPr>
          <p:cNvPr id="10" name="Image 1" descr="/mnt/data/S02_transactions_filters.png"/>
          <p:cNvPicPr>
            <a:picLocks noChangeAspect="1"/>
          </p:cNvPicPr>
          <p:nvPr/>
        </p:nvPicPr>
        <p:blipFill>
          <a:blip r:embed="rId4"/>
          <a:stretch>
            <a:fillRect/>
          </a:stretch>
        </p:blipFill>
        <p:spPr>
          <a:xfrm>
            <a:off x="6628415" y="1325880"/>
            <a:ext cx="4573970" cy="2788920"/>
          </a:xfrm>
          <a:prstGeom prst="rect">
            <a:avLst/>
          </a:prstGeom>
        </p:spPr>
      </p:pic>
      <p:sp>
        <p:nvSpPr>
          <p:cNvPr id="11" name="Shape 7"/>
          <p:cNvSpPr/>
          <p:nvPr/>
        </p:nvSpPr>
        <p:spPr>
          <a:xfrm>
            <a:off x="6263640" y="1325880"/>
            <a:ext cx="5303520" cy="2788920"/>
          </a:xfrm>
          <a:prstGeom prst="rect">
            <a:avLst/>
          </a:prstGeom>
          <a:solidFill>
            <a:srgbClr val="FFFFFF">
              <a:alpha val="0"/>
            </a:srgbClr>
          </a:solidFill>
          <a:ln w="7620">
            <a:solidFill>
              <a:srgbClr val="334155"/>
            </a:solidFill>
            <a:prstDash val="solid"/>
          </a:ln>
        </p:spPr>
      </p:sp>
      <p:sp>
        <p:nvSpPr>
          <p:cNvPr id="12" name="Text 8"/>
          <p:cNvSpPr/>
          <p:nvPr/>
        </p:nvSpPr>
        <p:spPr>
          <a:xfrm>
            <a:off x="685800" y="4526280"/>
            <a:ext cx="10789920" cy="1143000"/>
          </a:xfrm>
          <a:prstGeom prst="rect">
            <a:avLst/>
          </a:prstGeom>
          <a:noFill/>
          <a:ln/>
        </p:spPr>
        <p:txBody>
          <a:bodyPr wrap="square" lIns="635" tIns="635" rIns="635" bIns="635" rtlCol="0" anchor="t">
            <a:normAutofit lnSpcReduction="10000"/>
          </a:bodyPr>
          <a:lstStyle/>
          <a:p>
            <a:pPr marL="0" indent="0">
              <a:buNone/>
            </a:pPr>
            <a:r>
              <a:rPr lang="en-US" sz="1550" b="1" u="sng" dirty="0">
                <a:solidFill>
                  <a:srgbClr val="60A5FA"/>
                </a:solidFill>
                <a:latin typeface="Arial" pitchFamily="34" charset="0"/>
                <a:ea typeface="Arial" pitchFamily="34" charset="-122"/>
                <a:cs typeface="Arial" pitchFamily="34" charset="-120"/>
              </a:rPr>
              <a:t>Τι φαίνεται στην οθόνη</a:t>
            </a:r>
            <a:endParaRPr lang="el-GR" sz="1550" b="1" u="sng" dirty="0">
              <a:solidFill>
                <a:srgbClr val="60A5FA"/>
              </a:solidFill>
              <a:latin typeface="Arial" pitchFamily="34" charset="0"/>
              <a:ea typeface="Arial" pitchFamily="34" charset="-122"/>
              <a:cs typeface="Arial" pitchFamily="34" charset="-120"/>
            </a:endParaRPr>
          </a:p>
          <a:p>
            <a:pPr marL="0" indent="0">
              <a:buNone/>
            </a:pPr>
            <a:endParaRPr lang="en-US" sz="1300" u="sng" dirty="0"/>
          </a:p>
          <a:p>
            <a:pPr marL="285750" indent="-285750">
              <a:buFont typeface="Arial" panose="020B0604020202020204" pitchFamily="34" charset="0"/>
              <a:buChar char="•"/>
            </a:pPr>
            <a:r>
              <a:rPr lang="en-US" sz="1300" dirty="0">
                <a:solidFill>
                  <a:srgbClr val="E5E7EB"/>
                </a:solidFill>
                <a:latin typeface="Arial" pitchFamily="34" charset="0"/>
                <a:ea typeface="Arial" pitchFamily="34" charset="-122"/>
                <a:cs typeface="Arial" pitchFamily="34" charset="-120"/>
              </a:rPr>
              <a:t>Λίστα συναλλαγών με χρωματική διάκριση εσόδων / εξόδων.</a:t>
            </a:r>
            <a:endParaRPr lang="en-US" sz="1300" dirty="0"/>
          </a:p>
          <a:p>
            <a:pPr marL="285750" indent="-285750">
              <a:buFont typeface="Arial" panose="020B0604020202020204" pitchFamily="34" charset="0"/>
              <a:buChar char="•"/>
            </a:pPr>
            <a:r>
              <a:rPr lang="en-US" sz="1300" dirty="0">
                <a:solidFill>
                  <a:srgbClr val="E5E7EB"/>
                </a:solidFill>
                <a:latin typeface="Arial" pitchFamily="34" charset="0"/>
                <a:ea typeface="Arial" pitchFamily="34" charset="-122"/>
                <a:cs typeface="Arial" pitchFamily="34" charset="-120"/>
              </a:rPr>
              <a:t>Κάρτες συνόλων: έσοδα, έξοδα και ισοζύγιο.</a:t>
            </a:r>
            <a:endParaRPr lang="en-US" sz="1300" dirty="0"/>
          </a:p>
          <a:p>
            <a:pPr marL="285750" indent="-285750">
              <a:buFont typeface="Arial" panose="020B0604020202020204" pitchFamily="34" charset="0"/>
              <a:buChar char="•"/>
            </a:pPr>
            <a:r>
              <a:rPr lang="en-US" sz="1300" dirty="0">
                <a:solidFill>
                  <a:srgbClr val="E5E7EB"/>
                </a:solidFill>
                <a:latin typeface="Arial" pitchFamily="34" charset="0"/>
                <a:ea typeface="Arial" pitchFamily="34" charset="-122"/>
                <a:cs typeface="Arial" pitchFamily="34" charset="-120"/>
              </a:rPr>
              <a:t>Φίλτρα Από / Έως και κατηγορία.</a:t>
            </a:r>
            <a:endParaRPr lang="en-US" sz="1300" dirty="0"/>
          </a:p>
          <a:p>
            <a:pPr marL="285750" indent="-285750">
              <a:buFont typeface="Arial" panose="020B0604020202020204" pitchFamily="34" charset="0"/>
              <a:buChar char="•"/>
            </a:pPr>
            <a:r>
              <a:rPr lang="en-US" sz="1300" dirty="0">
                <a:solidFill>
                  <a:srgbClr val="E5E7EB"/>
                </a:solidFill>
                <a:latin typeface="Arial" pitchFamily="34" charset="0"/>
                <a:ea typeface="Arial" pitchFamily="34" charset="-122"/>
                <a:cs typeface="Arial" pitchFamily="34" charset="-120"/>
              </a:rPr>
              <a:t>Τα σύνολα αλλάζουν με βάση τις εμφανιζόμενες συναλλαγές.</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02920" y="320040"/>
            <a:ext cx="8412480" cy="384048"/>
          </a:xfrm>
          <a:prstGeom prst="rect">
            <a:avLst/>
          </a:prstGeom>
          <a:noFill/>
          <a:ln/>
        </p:spPr>
        <p:txBody>
          <a:bodyPr wrap="square" lIns="0" tIns="0" rIns="0" bIns="0" rtlCol="0" anchor="ctr"/>
          <a:lstStyle/>
          <a:p>
            <a:pPr marL="0" indent="0">
              <a:buNone/>
            </a:pPr>
            <a:r>
              <a:rPr lang="en-US" sz="2400" b="1" dirty="0">
                <a:solidFill>
                  <a:srgbClr val="F8FAFC"/>
                </a:solidFill>
                <a:latin typeface="Arial" pitchFamily="34" charset="0"/>
                <a:ea typeface="Arial" pitchFamily="34" charset="-122"/>
                <a:cs typeface="Arial" pitchFamily="34" charset="-120"/>
              </a:rPr>
              <a:t>Κατηγορίες και καταχώρηση συναλλαγής</a:t>
            </a:r>
            <a:endParaRPr lang="en-US" sz="2400" dirty="0"/>
          </a:p>
        </p:txBody>
      </p:sp>
      <p:sp>
        <p:nvSpPr>
          <p:cNvPr id="3" name="Text 1"/>
          <p:cNvSpPr/>
          <p:nvPr/>
        </p:nvSpPr>
        <p:spPr>
          <a:xfrm>
            <a:off x="521208" y="749808"/>
            <a:ext cx="8046720" cy="219456"/>
          </a:xfrm>
          <a:prstGeom prst="rect">
            <a:avLst/>
          </a:prstGeom>
          <a:noFill/>
          <a:ln/>
        </p:spPr>
        <p:txBody>
          <a:bodyPr wrap="square" lIns="0" tIns="0" rIns="0" bIns="0" rtlCol="0" anchor="ctr"/>
          <a:lstStyle/>
          <a:p>
            <a:pPr marL="0" indent="0">
              <a:buNone/>
            </a:pPr>
            <a:r>
              <a:rPr lang="en-US" sz="1050" dirty="0">
                <a:solidFill>
                  <a:srgbClr val="94A3B8"/>
                </a:solidFill>
                <a:latin typeface="Arial" pitchFamily="34" charset="0"/>
                <a:ea typeface="Arial" pitchFamily="34" charset="-122"/>
                <a:cs typeface="Arial" pitchFamily="34" charset="-120"/>
              </a:rPr>
              <a:t>CRUD λειτουργίες με βασικούς ελέγχους εγκυρότητας</a:t>
            </a:r>
            <a:endParaRPr lang="en-US" sz="1050" dirty="0"/>
          </a:p>
        </p:txBody>
      </p:sp>
      <p:sp>
        <p:nvSpPr>
          <p:cNvPr id="4" name="Shape 2"/>
          <p:cNvSpPr/>
          <p:nvPr/>
        </p:nvSpPr>
        <p:spPr>
          <a:xfrm>
            <a:off x="502920" y="1078992"/>
            <a:ext cx="11201400" cy="0"/>
          </a:xfrm>
          <a:prstGeom prst="line">
            <a:avLst/>
          </a:prstGeom>
          <a:noFill/>
          <a:ln w="10160">
            <a:solidFill>
              <a:srgbClr val="334155"/>
            </a:solidFill>
            <a:prstDash val="solid"/>
          </a:ln>
        </p:spPr>
      </p:sp>
      <p:sp>
        <p:nvSpPr>
          <p:cNvPr id="5" name="Shape 3"/>
          <p:cNvSpPr/>
          <p:nvPr/>
        </p:nvSpPr>
        <p:spPr>
          <a:xfrm>
            <a:off x="502920" y="1078992"/>
            <a:ext cx="1234440" cy="0"/>
          </a:xfrm>
          <a:prstGeom prst="line">
            <a:avLst/>
          </a:prstGeom>
          <a:noFill/>
          <a:ln w="30480">
            <a:solidFill>
              <a:srgbClr val="3B82F6"/>
            </a:solidFill>
            <a:prstDash val="solid"/>
          </a:ln>
        </p:spPr>
      </p:sp>
      <p:sp>
        <p:nvSpPr>
          <p:cNvPr id="6" name="Text 4"/>
          <p:cNvSpPr/>
          <p:nvPr/>
        </p:nvSpPr>
        <p:spPr>
          <a:xfrm>
            <a:off x="502920" y="6473952"/>
            <a:ext cx="6400800" cy="164592"/>
          </a:xfrm>
          <a:prstGeom prst="rect">
            <a:avLst/>
          </a:prstGeom>
          <a:noFill/>
          <a:ln/>
        </p:spPr>
        <p:txBody>
          <a:bodyPr wrap="square" lIns="0" tIns="0" rIns="0" bIns="0" rtlCol="0" anchor="ctr"/>
          <a:lstStyle/>
          <a:p>
            <a:pPr marL="0" indent="0">
              <a:buNone/>
            </a:pPr>
            <a:r>
              <a:rPr lang="en-US" sz="750" dirty="0">
                <a:solidFill>
                  <a:srgbClr val="94A3B8"/>
                </a:solidFill>
                <a:latin typeface="Arial" pitchFamily="34" charset="0"/>
                <a:ea typeface="Arial" pitchFamily="34" charset="-122"/>
                <a:cs typeface="Arial" pitchFamily="34" charset="-120"/>
              </a:rPr>
              <a:t>ΠΛΗΠΡΟ - Project 06 | Personal Finance Manager</a:t>
            </a:r>
            <a:endParaRPr lang="en-US" sz="750" dirty="0"/>
          </a:p>
        </p:txBody>
      </p:sp>
      <p:sp>
        <p:nvSpPr>
          <p:cNvPr id="7" name="Text 5"/>
          <p:cNvSpPr/>
          <p:nvPr/>
        </p:nvSpPr>
        <p:spPr>
          <a:xfrm>
            <a:off x="11292840" y="6428232"/>
            <a:ext cx="347472" cy="228600"/>
          </a:xfrm>
          <a:prstGeom prst="rect">
            <a:avLst/>
          </a:prstGeom>
          <a:noFill/>
          <a:ln/>
        </p:spPr>
        <p:txBody>
          <a:bodyPr wrap="square" lIns="0" tIns="0" rIns="0" bIns="0" rtlCol="0" anchor="ctr"/>
          <a:lstStyle/>
          <a:p>
            <a:pPr marL="0" indent="0" algn="ctr">
              <a:buNone/>
            </a:pPr>
            <a:r>
              <a:rPr lang="en-US" sz="850" b="1" dirty="0">
                <a:solidFill>
                  <a:srgbClr val="60A5FA"/>
                </a:solidFill>
                <a:latin typeface="Arial" pitchFamily="34" charset="0"/>
                <a:ea typeface="Arial" pitchFamily="34" charset="-122"/>
                <a:cs typeface="Arial" pitchFamily="34" charset="-120"/>
              </a:rPr>
              <a:t>07</a:t>
            </a:r>
            <a:endParaRPr lang="en-US" sz="850" dirty="0"/>
          </a:p>
        </p:txBody>
      </p:sp>
      <p:pic>
        <p:nvPicPr>
          <p:cNvPr id="8" name="Image 0" descr="/mnt/data/S03_new_transaction_form.png"/>
          <p:cNvPicPr>
            <a:picLocks noChangeAspect="1"/>
          </p:cNvPicPr>
          <p:nvPr/>
        </p:nvPicPr>
        <p:blipFill>
          <a:blip r:embed="rId3"/>
          <a:stretch>
            <a:fillRect/>
          </a:stretch>
        </p:blipFill>
        <p:spPr>
          <a:xfrm>
            <a:off x="948234" y="1325880"/>
            <a:ext cx="4687212" cy="2852928"/>
          </a:xfrm>
          <a:prstGeom prst="rect">
            <a:avLst/>
          </a:prstGeom>
        </p:spPr>
      </p:pic>
      <p:sp>
        <p:nvSpPr>
          <p:cNvPr id="9" name="Shape 6"/>
          <p:cNvSpPr/>
          <p:nvPr/>
        </p:nvSpPr>
        <p:spPr>
          <a:xfrm>
            <a:off x="594360" y="1325880"/>
            <a:ext cx="5394960" cy="2852928"/>
          </a:xfrm>
          <a:prstGeom prst="rect">
            <a:avLst/>
          </a:prstGeom>
          <a:solidFill>
            <a:srgbClr val="FFFFFF">
              <a:alpha val="0"/>
            </a:srgbClr>
          </a:solidFill>
          <a:ln w="7620">
            <a:solidFill>
              <a:srgbClr val="334155"/>
            </a:solidFill>
            <a:prstDash val="solid"/>
          </a:ln>
        </p:spPr>
      </p:sp>
      <p:pic>
        <p:nvPicPr>
          <p:cNvPr id="10" name="Image 1" descr="/mnt/data/S04_categories_screen.png"/>
          <p:cNvPicPr>
            <a:picLocks noChangeAspect="1"/>
          </p:cNvPicPr>
          <p:nvPr/>
        </p:nvPicPr>
        <p:blipFill>
          <a:blip r:embed="rId4"/>
          <a:stretch>
            <a:fillRect/>
          </a:stretch>
        </p:blipFill>
        <p:spPr>
          <a:xfrm>
            <a:off x="6564646" y="1325880"/>
            <a:ext cx="4701509" cy="2852928"/>
          </a:xfrm>
          <a:prstGeom prst="rect">
            <a:avLst/>
          </a:prstGeom>
        </p:spPr>
      </p:pic>
      <p:sp>
        <p:nvSpPr>
          <p:cNvPr id="11" name="Shape 7"/>
          <p:cNvSpPr/>
          <p:nvPr/>
        </p:nvSpPr>
        <p:spPr>
          <a:xfrm>
            <a:off x="6263640" y="1325880"/>
            <a:ext cx="5303520" cy="2852928"/>
          </a:xfrm>
          <a:prstGeom prst="rect">
            <a:avLst/>
          </a:prstGeom>
          <a:solidFill>
            <a:srgbClr val="FFFFFF">
              <a:alpha val="0"/>
            </a:srgbClr>
          </a:solidFill>
          <a:ln w="7620">
            <a:solidFill>
              <a:srgbClr val="334155"/>
            </a:solidFill>
            <a:prstDash val="solid"/>
          </a:ln>
        </p:spPr>
      </p:sp>
      <p:sp>
        <p:nvSpPr>
          <p:cNvPr id="12" name="Text 8"/>
          <p:cNvSpPr/>
          <p:nvPr/>
        </p:nvSpPr>
        <p:spPr>
          <a:xfrm>
            <a:off x="685800" y="4617719"/>
            <a:ext cx="10652760" cy="1371297"/>
          </a:xfrm>
          <a:prstGeom prst="rect">
            <a:avLst/>
          </a:prstGeom>
          <a:noFill/>
          <a:ln/>
        </p:spPr>
        <p:txBody>
          <a:bodyPr wrap="square" lIns="635" tIns="635" rIns="635" bIns="635" rtlCol="0" anchor="t">
            <a:normAutofit/>
          </a:bodyPr>
          <a:lstStyle/>
          <a:p>
            <a:pPr marL="0" indent="0">
              <a:buNone/>
            </a:pPr>
            <a:r>
              <a:rPr lang="en-US" sz="1550" b="1" u="sng" dirty="0">
                <a:solidFill>
                  <a:srgbClr val="60A5FA"/>
                </a:solidFill>
                <a:latin typeface="Arial" pitchFamily="34" charset="0"/>
                <a:ea typeface="Arial" pitchFamily="34" charset="-122"/>
                <a:cs typeface="Arial" pitchFamily="34" charset="-120"/>
              </a:rPr>
              <a:t>Σημεία που αξίζει να αναφερθούν</a:t>
            </a:r>
            <a:endParaRPr lang="el-GR" sz="1550" b="1" u="sng" dirty="0">
              <a:solidFill>
                <a:srgbClr val="60A5FA"/>
              </a:solidFill>
              <a:latin typeface="Arial" pitchFamily="34" charset="0"/>
              <a:ea typeface="Arial" pitchFamily="34" charset="-122"/>
              <a:cs typeface="Arial" pitchFamily="34" charset="-120"/>
            </a:endParaRPr>
          </a:p>
          <a:p>
            <a:pPr marL="285750" indent="-285750">
              <a:buFont typeface="Wingdings" panose="05000000000000000000" pitchFamily="2" charset="2"/>
              <a:buChar char="ü"/>
            </a:pPr>
            <a:endParaRPr lang="en-US" sz="1320" b="1" u="sng" dirty="0"/>
          </a:p>
          <a:p>
            <a:pPr marL="285750" indent="-285750">
              <a:buFont typeface="Wingdings" panose="05000000000000000000" pitchFamily="2" charset="2"/>
              <a:buChar char="ü"/>
            </a:pPr>
            <a:r>
              <a:rPr lang="en-US" sz="1320" dirty="0">
                <a:solidFill>
                  <a:srgbClr val="E5E7EB"/>
                </a:solidFill>
                <a:latin typeface="Arial" pitchFamily="34" charset="0"/>
                <a:ea typeface="Arial" pitchFamily="34" charset="-122"/>
                <a:cs typeface="Arial" pitchFamily="34" charset="-120"/>
              </a:rPr>
              <a:t>Η φόρμα συναλλαγής ελέγχει υποχρεωτικά πεδία, ποσό και ημερομηνία.</a:t>
            </a:r>
            <a:endParaRPr lang="en-US" sz="1320" dirty="0"/>
          </a:p>
          <a:p>
            <a:pPr marL="285750" indent="-285750">
              <a:buFont typeface="Wingdings" panose="05000000000000000000" pitchFamily="2" charset="2"/>
              <a:buChar char="ü"/>
            </a:pPr>
            <a:r>
              <a:rPr lang="en-US" sz="1320" dirty="0">
                <a:solidFill>
                  <a:srgbClr val="E5E7EB"/>
                </a:solidFill>
                <a:latin typeface="Arial" pitchFamily="34" charset="0"/>
                <a:ea typeface="Arial" pitchFamily="34" charset="-122"/>
                <a:cs typeface="Arial" pitchFamily="34" charset="-120"/>
              </a:rPr>
              <a:t>Οι κατηγορίες χωρίζονται σε Έσοδα και Έξοδα.</a:t>
            </a:r>
            <a:endParaRPr lang="en-US" sz="1320" dirty="0"/>
          </a:p>
          <a:p>
            <a:pPr marL="285750" indent="-285750">
              <a:buFont typeface="Wingdings" panose="05000000000000000000" pitchFamily="2" charset="2"/>
              <a:buChar char="ü"/>
            </a:pPr>
            <a:r>
              <a:rPr lang="en-US" sz="1320" dirty="0">
                <a:solidFill>
                  <a:srgbClr val="E5E7EB"/>
                </a:solidFill>
                <a:latin typeface="Arial" pitchFamily="34" charset="0"/>
                <a:ea typeface="Arial" pitchFamily="34" charset="-122"/>
                <a:cs typeface="Arial" pitchFamily="34" charset="-120"/>
              </a:rPr>
              <a:t>Αν κατηγορία χρησιμοποιείται ήδη, η διαγραφή μπλοκάρεται με φιλικό μήνυμα.</a:t>
            </a:r>
            <a:endParaRPr lang="en-US" sz="13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02920" y="320040"/>
            <a:ext cx="8412480" cy="384048"/>
          </a:xfrm>
          <a:prstGeom prst="rect">
            <a:avLst/>
          </a:prstGeom>
          <a:noFill/>
          <a:ln/>
        </p:spPr>
        <p:txBody>
          <a:bodyPr wrap="square" lIns="0" tIns="0" rIns="0" bIns="0" rtlCol="0" anchor="ctr"/>
          <a:lstStyle/>
          <a:p>
            <a:pPr marL="0" indent="0">
              <a:buNone/>
            </a:pPr>
            <a:r>
              <a:rPr lang="en-US" sz="2400" b="1" dirty="0">
                <a:solidFill>
                  <a:srgbClr val="F8FAFC"/>
                </a:solidFill>
                <a:latin typeface="Arial" pitchFamily="34" charset="0"/>
                <a:ea typeface="Arial" pitchFamily="34" charset="-122"/>
                <a:cs typeface="Arial" pitchFamily="34" charset="-120"/>
              </a:rPr>
              <a:t>Επαναλαμβανόμενες συναλλαγές</a:t>
            </a:r>
            <a:endParaRPr lang="en-US" sz="2400" dirty="0"/>
          </a:p>
        </p:txBody>
      </p:sp>
      <p:sp>
        <p:nvSpPr>
          <p:cNvPr id="3" name="Text 1"/>
          <p:cNvSpPr/>
          <p:nvPr/>
        </p:nvSpPr>
        <p:spPr>
          <a:xfrm>
            <a:off x="521208" y="749808"/>
            <a:ext cx="8046720" cy="219456"/>
          </a:xfrm>
          <a:prstGeom prst="rect">
            <a:avLst/>
          </a:prstGeom>
          <a:noFill/>
          <a:ln/>
        </p:spPr>
        <p:txBody>
          <a:bodyPr wrap="square" lIns="0" tIns="0" rIns="0" bIns="0" rtlCol="0" anchor="ctr"/>
          <a:lstStyle/>
          <a:p>
            <a:pPr marL="0" indent="0">
              <a:buNone/>
            </a:pPr>
            <a:r>
              <a:rPr lang="en-US" sz="1050" dirty="0">
                <a:solidFill>
                  <a:srgbClr val="94A3B8"/>
                </a:solidFill>
                <a:latin typeface="Arial" pitchFamily="34" charset="0"/>
                <a:ea typeface="Arial" pitchFamily="34" charset="-122"/>
                <a:cs typeface="Arial" pitchFamily="34" charset="-120"/>
              </a:rPr>
              <a:t>Αυτόματη δημιουργία σταθερών μηνιαίων κινήσεων χωρίς διπλοεγγραφές</a:t>
            </a:r>
            <a:endParaRPr lang="en-US" sz="1050" dirty="0"/>
          </a:p>
        </p:txBody>
      </p:sp>
      <p:sp>
        <p:nvSpPr>
          <p:cNvPr id="4" name="Shape 2"/>
          <p:cNvSpPr/>
          <p:nvPr/>
        </p:nvSpPr>
        <p:spPr>
          <a:xfrm>
            <a:off x="502920" y="1078992"/>
            <a:ext cx="11201400" cy="0"/>
          </a:xfrm>
          <a:prstGeom prst="line">
            <a:avLst/>
          </a:prstGeom>
          <a:noFill/>
          <a:ln w="10160">
            <a:solidFill>
              <a:srgbClr val="334155"/>
            </a:solidFill>
            <a:prstDash val="solid"/>
          </a:ln>
        </p:spPr>
      </p:sp>
      <p:sp>
        <p:nvSpPr>
          <p:cNvPr id="5" name="Shape 3"/>
          <p:cNvSpPr/>
          <p:nvPr/>
        </p:nvSpPr>
        <p:spPr>
          <a:xfrm>
            <a:off x="502920" y="1078992"/>
            <a:ext cx="1234440" cy="0"/>
          </a:xfrm>
          <a:prstGeom prst="line">
            <a:avLst/>
          </a:prstGeom>
          <a:noFill/>
          <a:ln w="30480">
            <a:solidFill>
              <a:srgbClr val="3B82F6"/>
            </a:solidFill>
            <a:prstDash val="solid"/>
          </a:ln>
        </p:spPr>
      </p:sp>
      <p:sp>
        <p:nvSpPr>
          <p:cNvPr id="6" name="Text 4"/>
          <p:cNvSpPr/>
          <p:nvPr/>
        </p:nvSpPr>
        <p:spPr>
          <a:xfrm>
            <a:off x="502920" y="6473952"/>
            <a:ext cx="6400800" cy="164592"/>
          </a:xfrm>
          <a:prstGeom prst="rect">
            <a:avLst/>
          </a:prstGeom>
          <a:noFill/>
          <a:ln/>
        </p:spPr>
        <p:txBody>
          <a:bodyPr wrap="square" lIns="0" tIns="0" rIns="0" bIns="0" rtlCol="0" anchor="ctr"/>
          <a:lstStyle/>
          <a:p>
            <a:pPr marL="0" indent="0">
              <a:buNone/>
            </a:pPr>
            <a:r>
              <a:rPr lang="en-US" sz="750" dirty="0">
                <a:solidFill>
                  <a:srgbClr val="94A3B8"/>
                </a:solidFill>
                <a:latin typeface="Arial" pitchFamily="34" charset="0"/>
                <a:ea typeface="Arial" pitchFamily="34" charset="-122"/>
                <a:cs typeface="Arial" pitchFamily="34" charset="-120"/>
              </a:rPr>
              <a:t>ΠΛΗΠΡΟ - Project 06 | Personal Finance Manager</a:t>
            </a:r>
            <a:endParaRPr lang="en-US" sz="750" dirty="0"/>
          </a:p>
        </p:txBody>
      </p:sp>
      <p:sp>
        <p:nvSpPr>
          <p:cNvPr id="7" name="Text 5"/>
          <p:cNvSpPr/>
          <p:nvPr/>
        </p:nvSpPr>
        <p:spPr>
          <a:xfrm>
            <a:off x="11292840" y="6428232"/>
            <a:ext cx="347472" cy="228600"/>
          </a:xfrm>
          <a:prstGeom prst="rect">
            <a:avLst/>
          </a:prstGeom>
          <a:noFill/>
          <a:ln/>
        </p:spPr>
        <p:txBody>
          <a:bodyPr wrap="square" lIns="0" tIns="0" rIns="0" bIns="0" rtlCol="0" anchor="ctr"/>
          <a:lstStyle/>
          <a:p>
            <a:pPr marL="0" indent="0" algn="ctr">
              <a:buNone/>
            </a:pPr>
            <a:r>
              <a:rPr lang="en-US" sz="850" b="1" dirty="0">
                <a:solidFill>
                  <a:srgbClr val="60A5FA"/>
                </a:solidFill>
                <a:latin typeface="Arial" pitchFamily="34" charset="0"/>
                <a:ea typeface="Arial" pitchFamily="34" charset="-122"/>
                <a:cs typeface="Arial" pitchFamily="34" charset="-120"/>
              </a:rPr>
              <a:t>08</a:t>
            </a:r>
            <a:endParaRPr lang="en-US" sz="850" dirty="0"/>
          </a:p>
        </p:txBody>
      </p:sp>
      <p:pic>
        <p:nvPicPr>
          <p:cNvPr id="8" name="Image 0" descr="/mnt/data/S05_recurring_screen.png"/>
          <p:cNvPicPr>
            <a:picLocks noChangeAspect="1"/>
          </p:cNvPicPr>
          <p:nvPr/>
        </p:nvPicPr>
        <p:blipFill>
          <a:blip r:embed="rId3"/>
          <a:stretch>
            <a:fillRect/>
          </a:stretch>
        </p:blipFill>
        <p:spPr>
          <a:xfrm>
            <a:off x="1349746" y="1325880"/>
            <a:ext cx="4798588" cy="3611880"/>
          </a:xfrm>
          <a:prstGeom prst="rect">
            <a:avLst/>
          </a:prstGeom>
        </p:spPr>
      </p:pic>
      <p:sp>
        <p:nvSpPr>
          <p:cNvPr id="9" name="Shape 6"/>
          <p:cNvSpPr/>
          <p:nvPr/>
        </p:nvSpPr>
        <p:spPr>
          <a:xfrm>
            <a:off x="594360" y="1325880"/>
            <a:ext cx="6309360" cy="3611880"/>
          </a:xfrm>
          <a:prstGeom prst="rect">
            <a:avLst/>
          </a:prstGeom>
          <a:solidFill>
            <a:srgbClr val="FFFFFF">
              <a:alpha val="0"/>
            </a:srgbClr>
          </a:solidFill>
          <a:ln w="7620">
            <a:solidFill>
              <a:srgbClr val="334155"/>
            </a:solidFill>
            <a:prstDash val="solid"/>
          </a:ln>
        </p:spPr>
      </p:sp>
      <p:pic>
        <p:nvPicPr>
          <p:cNvPr id="10" name="Image 1" descr="/mnt/data/S06_recurring_generate_range.png"/>
          <p:cNvPicPr>
            <a:picLocks noChangeAspect="1"/>
          </p:cNvPicPr>
          <p:nvPr/>
        </p:nvPicPr>
        <p:blipFill>
          <a:blip r:embed="rId4"/>
          <a:stretch>
            <a:fillRect/>
          </a:stretch>
        </p:blipFill>
        <p:spPr>
          <a:xfrm>
            <a:off x="7360920" y="1423364"/>
            <a:ext cx="2148840" cy="2411071"/>
          </a:xfrm>
          <a:prstGeom prst="rect">
            <a:avLst/>
          </a:prstGeom>
        </p:spPr>
      </p:pic>
      <p:sp>
        <p:nvSpPr>
          <p:cNvPr id="11" name="Shape 7"/>
          <p:cNvSpPr/>
          <p:nvPr/>
        </p:nvSpPr>
        <p:spPr>
          <a:xfrm>
            <a:off x="7360920" y="1417320"/>
            <a:ext cx="2148840" cy="2423160"/>
          </a:xfrm>
          <a:prstGeom prst="rect">
            <a:avLst/>
          </a:prstGeom>
          <a:solidFill>
            <a:srgbClr val="FFFFFF">
              <a:alpha val="0"/>
            </a:srgbClr>
          </a:solidFill>
          <a:ln w="7620">
            <a:solidFill>
              <a:srgbClr val="334155"/>
            </a:solidFill>
            <a:prstDash val="solid"/>
          </a:ln>
        </p:spPr>
      </p:sp>
      <p:sp>
        <p:nvSpPr>
          <p:cNvPr id="12" name="Text 8"/>
          <p:cNvSpPr/>
          <p:nvPr/>
        </p:nvSpPr>
        <p:spPr>
          <a:xfrm>
            <a:off x="7543800" y="4069080"/>
            <a:ext cx="3794760" cy="1600200"/>
          </a:xfrm>
          <a:prstGeom prst="rect">
            <a:avLst/>
          </a:prstGeom>
          <a:noFill/>
          <a:ln/>
        </p:spPr>
        <p:txBody>
          <a:bodyPr wrap="square" lIns="635" tIns="635" rIns="635" bIns="635" rtlCol="0" anchor="t">
            <a:normAutofit/>
          </a:bodyPr>
          <a:lstStyle/>
          <a:p>
            <a:pPr marL="0" indent="0">
              <a:buNone/>
            </a:pPr>
            <a:r>
              <a:rPr lang="en-US" sz="1550" b="1" u="sng" dirty="0" err="1">
                <a:solidFill>
                  <a:srgbClr val="60A5FA"/>
                </a:solidFill>
                <a:latin typeface="Arial" pitchFamily="34" charset="0"/>
                <a:ea typeface="Arial" pitchFamily="34" charset="-122"/>
                <a:cs typeface="Arial" pitchFamily="34" charset="-120"/>
              </a:rPr>
              <a:t>Λογική</a:t>
            </a:r>
            <a:r>
              <a:rPr lang="en-US" sz="1550" b="1" u="sng" dirty="0">
                <a:solidFill>
                  <a:srgbClr val="60A5FA"/>
                </a:solidFill>
                <a:latin typeface="Arial" pitchFamily="34" charset="0"/>
                <a:ea typeface="Arial" pitchFamily="34" charset="-122"/>
                <a:cs typeface="Arial" pitchFamily="34" charset="-120"/>
              </a:rPr>
              <a:t> </a:t>
            </a:r>
            <a:r>
              <a:rPr lang="en-US" sz="1550" b="1" u="sng" dirty="0" err="1">
                <a:solidFill>
                  <a:srgbClr val="60A5FA"/>
                </a:solidFill>
                <a:latin typeface="Arial" pitchFamily="34" charset="0"/>
                <a:ea typeface="Arial" pitchFamily="34" charset="-122"/>
                <a:cs typeface="Arial" pitchFamily="34" charset="-120"/>
              </a:rPr>
              <a:t>υλο</a:t>
            </a:r>
            <a:r>
              <a:rPr lang="en-US" sz="1550" b="1" u="sng" dirty="0">
                <a:solidFill>
                  <a:srgbClr val="60A5FA"/>
                </a:solidFill>
                <a:latin typeface="Arial" pitchFamily="34" charset="0"/>
                <a:ea typeface="Arial" pitchFamily="34" charset="-122"/>
                <a:cs typeface="Arial" pitchFamily="34" charset="-120"/>
              </a:rPr>
              <a:t>ποίησης</a:t>
            </a:r>
            <a:endParaRPr lang="el-GR" sz="1550" b="1" u="sng" dirty="0">
              <a:solidFill>
                <a:srgbClr val="60A5FA"/>
              </a:solidFill>
              <a:latin typeface="Arial" pitchFamily="34" charset="0"/>
              <a:ea typeface="Arial" pitchFamily="34" charset="-122"/>
              <a:cs typeface="Arial" pitchFamily="34" charset="-120"/>
            </a:endParaRPr>
          </a:p>
          <a:p>
            <a:pPr marL="0" indent="0">
              <a:buNone/>
            </a:pPr>
            <a:endParaRPr lang="en-US" sz="1180" b="1" u="sng" dirty="0"/>
          </a:p>
          <a:p>
            <a:pPr marL="171450" indent="-171450">
              <a:buFont typeface="Arial" panose="020B0604020202020204" pitchFamily="34" charset="0"/>
              <a:buChar char="•"/>
            </a:pPr>
            <a:r>
              <a:rPr lang="en-US" sz="1180" dirty="0">
                <a:solidFill>
                  <a:srgbClr val="E5E7EB"/>
                </a:solidFill>
                <a:latin typeface="Arial" pitchFamily="34" charset="0"/>
                <a:ea typeface="Arial" pitchFamily="34" charset="-122"/>
                <a:cs typeface="Arial" pitchFamily="34" charset="-120"/>
              </a:rPr>
              <a:t>Ο χρήστης ορίζει πρότυπη μηνιαία εγγραφή.</a:t>
            </a:r>
            <a:endParaRPr lang="en-US" sz="1180" dirty="0"/>
          </a:p>
          <a:p>
            <a:pPr marL="171450" indent="-171450">
              <a:buFont typeface="Arial" panose="020B0604020202020204" pitchFamily="34" charset="0"/>
              <a:buChar char="•"/>
            </a:pPr>
            <a:r>
              <a:rPr lang="en-US" sz="1180" dirty="0">
                <a:solidFill>
                  <a:srgbClr val="E5E7EB"/>
                </a:solidFill>
                <a:latin typeface="Arial" pitchFamily="34" charset="0"/>
                <a:ea typeface="Arial" pitchFamily="34" charset="-122"/>
                <a:cs typeface="Arial" pitchFamily="34" charset="-120"/>
              </a:rPr>
              <a:t>Οι εγγραφές μπορούν να είναι ενεργές ή ανενεργές.</a:t>
            </a:r>
            <a:endParaRPr lang="en-US" sz="1180" dirty="0"/>
          </a:p>
          <a:p>
            <a:pPr marL="171450" indent="-171450">
              <a:buFont typeface="Arial" panose="020B0604020202020204" pitchFamily="34" charset="0"/>
              <a:buChar char="•"/>
            </a:pPr>
            <a:r>
              <a:rPr lang="en-US" sz="1180" dirty="0">
                <a:solidFill>
                  <a:srgbClr val="E5E7EB"/>
                </a:solidFill>
                <a:latin typeface="Arial" pitchFamily="34" charset="0"/>
                <a:ea typeface="Arial" pitchFamily="34" charset="-122"/>
                <a:cs typeface="Arial" pitchFamily="34" charset="-120"/>
              </a:rPr>
              <a:t>Η δημιουργία γίνεται για διάστημα από μήνα/έτος έως μήνα/έτος.</a:t>
            </a:r>
            <a:endParaRPr lang="en-US" sz="1180" dirty="0"/>
          </a:p>
          <a:p>
            <a:pPr marL="171450" indent="-171450">
              <a:buFont typeface="Arial" panose="020B0604020202020204" pitchFamily="34" charset="0"/>
              <a:buChar char="•"/>
            </a:pPr>
            <a:r>
              <a:rPr lang="en-US" sz="1180" dirty="0">
                <a:solidFill>
                  <a:srgbClr val="E5E7EB"/>
                </a:solidFill>
                <a:latin typeface="Arial" pitchFamily="34" charset="0"/>
                <a:ea typeface="Arial" pitchFamily="34" charset="-122"/>
                <a:cs typeface="Arial" pitchFamily="34" charset="-120"/>
              </a:rPr>
              <a:t>Το [AUTO-REC:x] μένει εσωτερικά στη βάση για να αποφεύγονται διπλές εγγραφές.</a:t>
            </a:r>
            <a:endParaRPr lang="en-US" sz="11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02920" y="320040"/>
            <a:ext cx="8412480" cy="384048"/>
          </a:xfrm>
          <a:prstGeom prst="rect">
            <a:avLst/>
          </a:prstGeom>
          <a:noFill/>
          <a:ln/>
        </p:spPr>
        <p:txBody>
          <a:bodyPr wrap="square" lIns="0" tIns="0" rIns="0" bIns="0" rtlCol="0" anchor="ctr"/>
          <a:lstStyle/>
          <a:p>
            <a:pPr marL="0" indent="0">
              <a:buNone/>
            </a:pPr>
            <a:r>
              <a:rPr lang="en-US" sz="2400" b="1" dirty="0">
                <a:solidFill>
                  <a:srgbClr val="F8FAFC"/>
                </a:solidFill>
                <a:latin typeface="Arial" pitchFamily="34" charset="0"/>
                <a:ea typeface="Arial" pitchFamily="34" charset="-122"/>
                <a:cs typeface="Arial" pitchFamily="34" charset="-120"/>
              </a:rPr>
              <a:t>Γραφήματα και οικονομική εικόνα</a:t>
            </a:r>
            <a:endParaRPr lang="en-US" sz="2400" dirty="0"/>
          </a:p>
        </p:txBody>
      </p:sp>
      <p:sp>
        <p:nvSpPr>
          <p:cNvPr id="3" name="Text 1"/>
          <p:cNvSpPr/>
          <p:nvPr/>
        </p:nvSpPr>
        <p:spPr>
          <a:xfrm>
            <a:off x="521208" y="749808"/>
            <a:ext cx="8046720" cy="219456"/>
          </a:xfrm>
          <a:prstGeom prst="rect">
            <a:avLst/>
          </a:prstGeom>
          <a:noFill/>
          <a:ln/>
        </p:spPr>
        <p:txBody>
          <a:bodyPr wrap="square" lIns="0" tIns="0" rIns="0" bIns="0" rtlCol="0" anchor="ctr"/>
          <a:lstStyle/>
          <a:p>
            <a:pPr marL="0" indent="0">
              <a:buNone/>
            </a:pPr>
            <a:r>
              <a:rPr lang="en-US" sz="1050" dirty="0">
                <a:solidFill>
                  <a:srgbClr val="94A3B8"/>
                </a:solidFill>
                <a:latin typeface="Arial" pitchFamily="34" charset="0"/>
                <a:ea typeface="Arial" pitchFamily="34" charset="-122"/>
                <a:cs typeface="Arial" pitchFamily="34" charset="-120"/>
              </a:rPr>
              <a:t>Οπτική ανάλυση με Matplotlib και φίλτρα ημερομηνιών</a:t>
            </a:r>
            <a:endParaRPr lang="en-US" sz="1050" dirty="0"/>
          </a:p>
        </p:txBody>
      </p:sp>
      <p:sp>
        <p:nvSpPr>
          <p:cNvPr id="4" name="Shape 2"/>
          <p:cNvSpPr/>
          <p:nvPr/>
        </p:nvSpPr>
        <p:spPr>
          <a:xfrm>
            <a:off x="502920" y="1078992"/>
            <a:ext cx="11201400" cy="0"/>
          </a:xfrm>
          <a:prstGeom prst="line">
            <a:avLst/>
          </a:prstGeom>
          <a:noFill/>
          <a:ln w="10160">
            <a:solidFill>
              <a:srgbClr val="334155"/>
            </a:solidFill>
            <a:prstDash val="solid"/>
          </a:ln>
        </p:spPr>
      </p:sp>
      <p:sp>
        <p:nvSpPr>
          <p:cNvPr id="5" name="Shape 3"/>
          <p:cNvSpPr/>
          <p:nvPr/>
        </p:nvSpPr>
        <p:spPr>
          <a:xfrm>
            <a:off x="502920" y="1078992"/>
            <a:ext cx="1234440" cy="0"/>
          </a:xfrm>
          <a:prstGeom prst="line">
            <a:avLst/>
          </a:prstGeom>
          <a:noFill/>
          <a:ln w="30480">
            <a:solidFill>
              <a:srgbClr val="3B82F6"/>
            </a:solidFill>
            <a:prstDash val="solid"/>
          </a:ln>
        </p:spPr>
      </p:sp>
      <p:sp>
        <p:nvSpPr>
          <p:cNvPr id="6" name="Text 4"/>
          <p:cNvSpPr/>
          <p:nvPr/>
        </p:nvSpPr>
        <p:spPr>
          <a:xfrm>
            <a:off x="502920" y="6473952"/>
            <a:ext cx="6400800" cy="164592"/>
          </a:xfrm>
          <a:prstGeom prst="rect">
            <a:avLst/>
          </a:prstGeom>
          <a:noFill/>
          <a:ln/>
        </p:spPr>
        <p:txBody>
          <a:bodyPr wrap="square" lIns="0" tIns="0" rIns="0" bIns="0" rtlCol="0" anchor="ctr"/>
          <a:lstStyle/>
          <a:p>
            <a:pPr marL="0" indent="0">
              <a:buNone/>
            </a:pPr>
            <a:r>
              <a:rPr lang="en-US" sz="750" dirty="0">
                <a:solidFill>
                  <a:srgbClr val="94A3B8"/>
                </a:solidFill>
                <a:latin typeface="Arial" pitchFamily="34" charset="0"/>
                <a:ea typeface="Arial" pitchFamily="34" charset="-122"/>
                <a:cs typeface="Arial" pitchFamily="34" charset="-120"/>
              </a:rPr>
              <a:t>ΠΛΗΠΡΟ - Project 06 | Personal Finance Manager</a:t>
            </a:r>
            <a:endParaRPr lang="en-US" sz="750" dirty="0"/>
          </a:p>
        </p:txBody>
      </p:sp>
      <p:sp>
        <p:nvSpPr>
          <p:cNvPr id="7" name="Text 5"/>
          <p:cNvSpPr/>
          <p:nvPr/>
        </p:nvSpPr>
        <p:spPr>
          <a:xfrm>
            <a:off x="11292840" y="6428232"/>
            <a:ext cx="347472" cy="228600"/>
          </a:xfrm>
          <a:prstGeom prst="rect">
            <a:avLst/>
          </a:prstGeom>
          <a:noFill/>
          <a:ln/>
        </p:spPr>
        <p:txBody>
          <a:bodyPr wrap="square" lIns="0" tIns="0" rIns="0" bIns="0" rtlCol="0" anchor="ctr"/>
          <a:lstStyle/>
          <a:p>
            <a:pPr marL="0" indent="0" algn="ctr">
              <a:buNone/>
            </a:pPr>
            <a:r>
              <a:rPr lang="en-US" sz="850" b="1" dirty="0">
                <a:solidFill>
                  <a:srgbClr val="60A5FA"/>
                </a:solidFill>
                <a:latin typeface="Arial" pitchFamily="34" charset="0"/>
                <a:ea typeface="Arial" pitchFamily="34" charset="-122"/>
                <a:cs typeface="Arial" pitchFamily="34" charset="-120"/>
              </a:rPr>
              <a:t>09</a:t>
            </a:r>
            <a:endParaRPr lang="en-US" sz="850" dirty="0"/>
          </a:p>
        </p:txBody>
      </p:sp>
      <p:pic>
        <p:nvPicPr>
          <p:cNvPr id="8" name="Image 0" descr="/mnt/data/S07_charts_expenses.png"/>
          <p:cNvPicPr>
            <a:picLocks noChangeAspect="1"/>
          </p:cNvPicPr>
          <p:nvPr/>
        </p:nvPicPr>
        <p:blipFill>
          <a:blip r:embed="rId3"/>
          <a:stretch>
            <a:fillRect/>
          </a:stretch>
        </p:blipFill>
        <p:spPr>
          <a:xfrm>
            <a:off x="1235953" y="1325880"/>
            <a:ext cx="4111774" cy="3063240"/>
          </a:xfrm>
          <a:prstGeom prst="rect">
            <a:avLst/>
          </a:prstGeom>
        </p:spPr>
      </p:pic>
      <p:sp>
        <p:nvSpPr>
          <p:cNvPr id="9" name="Shape 6"/>
          <p:cNvSpPr/>
          <p:nvPr/>
        </p:nvSpPr>
        <p:spPr>
          <a:xfrm>
            <a:off x="594360" y="1325880"/>
            <a:ext cx="5394960" cy="3063240"/>
          </a:xfrm>
          <a:prstGeom prst="rect">
            <a:avLst/>
          </a:prstGeom>
          <a:solidFill>
            <a:srgbClr val="FFFFFF">
              <a:alpha val="0"/>
            </a:srgbClr>
          </a:solidFill>
          <a:ln w="7620">
            <a:solidFill>
              <a:srgbClr val="334155"/>
            </a:solidFill>
            <a:prstDash val="solid"/>
          </a:ln>
        </p:spPr>
      </p:sp>
      <p:pic>
        <p:nvPicPr>
          <p:cNvPr id="10" name="Image 1" descr="/mnt/data/S08_charts_monthly_summary.png"/>
          <p:cNvPicPr>
            <a:picLocks noChangeAspect="1"/>
          </p:cNvPicPr>
          <p:nvPr/>
        </p:nvPicPr>
        <p:blipFill>
          <a:blip r:embed="rId4"/>
          <a:stretch>
            <a:fillRect/>
          </a:stretch>
        </p:blipFill>
        <p:spPr>
          <a:xfrm>
            <a:off x="6879524" y="1325880"/>
            <a:ext cx="4071753" cy="3063240"/>
          </a:xfrm>
          <a:prstGeom prst="rect">
            <a:avLst/>
          </a:prstGeom>
        </p:spPr>
      </p:pic>
      <p:sp>
        <p:nvSpPr>
          <p:cNvPr id="11" name="Shape 7"/>
          <p:cNvSpPr/>
          <p:nvPr/>
        </p:nvSpPr>
        <p:spPr>
          <a:xfrm>
            <a:off x="6263640" y="1325880"/>
            <a:ext cx="5303520" cy="3063240"/>
          </a:xfrm>
          <a:prstGeom prst="rect">
            <a:avLst/>
          </a:prstGeom>
          <a:solidFill>
            <a:srgbClr val="FFFFFF">
              <a:alpha val="0"/>
            </a:srgbClr>
          </a:solidFill>
          <a:ln w="7620">
            <a:solidFill>
              <a:srgbClr val="334155"/>
            </a:solidFill>
            <a:prstDash val="solid"/>
          </a:ln>
        </p:spPr>
      </p:sp>
      <p:sp>
        <p:nvSpPr>
          <p:cNvPr id="12" name="Text 8"/>
          <p:cNvSpPr/>
          <p:nvPr/>
        </p:nvSpPr>
        <p:spPr>
          <a:xfrm>
            <a:off x="685800" y="4690872"/>
            <a:ext cx="10607040" cy="1183088"/>
          </a:xfrm>
          <a:prstGeom prst="rect">
            <a:avLst/>
          </a:prstGeom>
          <a:noFill/>
          <a:ln/>
        </p:spPr>
        <p:txBody>
          <a:bodyPr wrap="square" lIns="635" tIns="635" rIns="635" bIns="635" rtlCol="0" anchor="t">
            <a:normAutofit fontScale="92500" lnSpcReduction="10000"/>
          </a:bodyPr>
          <a:lstStyle/>
          <a:p>
            <a:pPr marL="0" indent="0">
              <a:buNone/>
            </a:pPr>
            <a:r>
              <a:rPr lang="en-US" sz="1550" b="1" u="sng" dirty="0" err="1">
                <a:solidFill>
                  <a:srgbClr val="60A5FA"/>
                </a:solidFill>
                <a:latin typeface="Arial" pitchFamily="34" charset="0"/>
                <a:ea typeface="Arial" pitchFamily="34" charset="-122"/>
                <a:cs typeface="Arial" pitchFamily="34" charset="-120"/>
              </a:rPr>
              <a:t>Υλο</a:t>
            </a:r>
            <a:r>
              <a:rPr lang="en-US" sz="1550" b="1" u="sng" dirty="0">
                <a:solidFill>
                  <a:srgbClr val="60A5FA"/>
                </a:solidFill>
                <a:latin typeface="Arial" pitchFamily="34" charset="0"/>
                <a:ea typeface="Arial" pitchFamily="34" charset="-122"/>
                <a:cs typeface="Arial" pitchFamily="34" charset="-120"/>
              </a:rPr>
              <a:t>ποιημένα γραφήματα</a:t>
            </a:r>
            <a:endParaRPr lang="el-GR" sz="1550" b="1" u="sng" dirty="0">
              <a:solidFill>
                <a:srgbClr val="60A5FA"/>
              </a:solidFill>
              <a:latin typeface="Arial" pitchFamily="34" charset="0"/>
              <a:ea typeface="Arial" pitchFamily="34" charset="-122"/>
              <a:cs typeface="Arial" pitchFamily="34" charset="-120"/>
            </a:endParaRPr>
          </a:p>
          <a:p>
            <a:pPr marL="285750" indent="-285750">
              <a:buFont typeface="Wingdings" panose="05000000000000000000" pitchFamily="2" charset="2"/>
              <a:buChar char="ü"/>
            </a:pPr>
            <a:endParaRPr lang="en-US" sz="1280" u="sng" dirty="0"/>
          </a:p>
          <a:p>
            <a:pPr marL="285750" indent="-285750">
              <a:buFont typeface="Wingdings" panose="05000000000000000000" pitchFamily="2" charset="2"/>
              <a:buChar char="ü"/>
            </a:pPr>
            <a:r>
              <a:rPr lang="en-US" sz="1280" dirty="0">
                <a:solidFill>
                  <a:srgbClr val="E5E7EB"/>
                </a:solidFill>
                <a:latin typeface="Arial" pitchFamily="34" charset="0"/>
                <a:ea typeface="Arial" pitchFamily="34" charset="-122"/>
                <a:cs typeface="Arial" pitchFamily="34" charset="-120"/>
              </a:rPr>
              <a:t>Έξοδα ανά κατηγορία.</a:t>
            </a:r>
            <a:endParaRPr lang="en-US" sz="1280" dirty="0"/>
          </a:p>
          <a:p>
            <a:pPr marL="285750" indent="-285750">
              <a:buFont typeface="Wingdings" panose="05000000000000000000" pitchFamily="2" charset="2"/>
              <a:buChar char="ü"/>
            </a:pPr>
            <a:r>
              <a:rPr lang="en-US" sz="1280" dirty="0">
                <a:solidFill>
                  <a:srgbClr val="E5E7EB"/>
                </a:solidFill>
                <a:latin typeface="Arial" pitchFamily="34" charset="0"/>
                <a:ea typeface="Arial" pitchFamily="34" charset="-122"/>
                <a:cs typeface="Arial" pitchFamily="34" charset="-120"/>
              </a:rPr>
              <a:t>Έσοδα ανά κατηγορία.</a:t>
            </a:r>
            <a:endParaRPr lang="en-US" sz="1280" dirty="0"/>
          </a:p>
          <a:p>
            <a:pPr marL="285750" indent="-285750">
              <a:buFont typeface="Wingdings" panose="05000000000000000000" pitchFamily="2" charset="2"/>
              <a:buChar char="ü"/>
            </a:pPr>
            <a:r>
              <a:rPr lang="en-US" sz="1280" dirty="0">
                <a:solidFill>
                  <a:srgbClr val="E5E7EB"/>
                </a:solidFill>
                <a:latin typeface="Arial" pitchFamily="34" charset="0"/>
                <a:ea typeface="Arial" pitchFamily="34" charset="-122"/>
                <a:cs typeface="Arial" pitchFamily="34" charset="-120"/>
              </a:rPr>
              <a:t>Μηνιαία σύνοψη εσόδων / εξόδων.</a:t>
            </a:r>
            <a:endParaRPr lang="en-US" sz="1280" dirty="0"/>
          </a:p>
          <a:p>
            <a:pPr marL="285750" indent="-285750">
              <a:buFont typeface="Wingdings" panose="05000000000000000000" pitchFamily="2" charset="2"/>
              <a:buChar char="ü"/>
            </a:pPr>
            <a:r>
              <a:rPr lang="en-US" sz="1280" dirty="0">
                <a:solidFill>
                  <a:srgbClr val="E5E7EB"/>
                </a:solidFill>
                <a:latin typeface="Arial" pitchFamily="34" charset="0"/>
                <a:ea typeface="Arial" pitchFamily="34" charset="-122"/>
                <a:cs typeface="Arial" pitchFamily="34" charset="-120"/>
              </a:rPr>
              <a:t>Υπόλοιπο ανά μήνα.</a:t>
            </a:r>
            <a:endParaRPr lang="en-US" sz="1280" dirty="0"/>
          </a:p>
          <a:p>
            <a:pPr marL="285750" indent="-285750">
              <a:buFont typeface="Wingdings" panose="05000000000000000000" pitchFamily="2" charset="2"/>
              <a:buChar char="ü"/>
            </a:pPr>
            <a:r>
              <a:rPr lang="en-US" sz="1280" dirty="0">
                <a:solidFill>
                  <a:srgbClr val="E5E7EB"/>
                </a:solidFill>
                <a:latin typeface="Arial" pitchFamily="34" charset="0"/>
                <a:ea typeface="Arial" pitchFamily="34" charset="-122"/>
                <a:cs typeface="Arial" pitchFamily="34" charset="-120"/>
              </a:rPr>
              <a:t>Τα φίλτρα Από / Έως ισχύουν για τα γραφήματα.</a:t>
            </a:r>
            <a:endParaRPr lang="en-US" sz="12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02920" y="320040"/>
            <a:ext cx="8412480" cy="384048"/>
          </a:xfrm>
          <a:prstGeom prst="rect">
            <a:avLst/>
          </a:prstGeom>
          <a:noFill/>
          <a:ln/>
        </p:spPr>
        <p:txBody>
          <a:bodyPr wrap="square" lIns="0" tIns="0" rIns="0" bIns="0" rtlCol="0" anchor="ctr"/>
          <a:lstStyle/>
          <a:p>
            <a:pPr marL="0" indent="0">
              <a:buNone/>
            </a:pPr>
            <a:r>
              <a:rPr lang="en-US" sz="2400" b="1" dirty="0">
                <a:solidFill>
                  <a:srgbClr val="F8FAFC"/>
                </a:solidFill>
                <a:latin typeface="Arial" pitchFamily="34" charset="0"/>
                <a:ea typeface="Arial" pitchFamily="34" charset="-122"/>
                <a:cs typeface="Arial" pitchFamily="34" charset="-120"/>
              </a:rPr>
              <a:t>Excel και PDF exports</a:t>
            </a:r>
            <a:endParaRPr lang="en-US" sz="2400" dirty="0"/>
          </a:p>
        </p:txBody>
      </p:sp>
      <p:sp>
        <p:nvSpPr>
          <p:cNvPr id="3" name="Text 1"/>
          <p:cNvSpPr/>
          <p:nvPr/>
        </p:nvSpPr>
        <p:spPr>
          <a:xfrm>
            <a:off x="521208" y="749808"/>
            <a:ext cx="8046720" cy="219456"/>
          </a:xfrm>
          <a:prstGeom prst="rect">
            <a:avLst/>
          </a:prstGeom>
          <a:noFill/>
          <a:ln/>
        </p:spPr>
        <p:txBody>
          <a:bodyPr wrap="square" lIns="0" tIns="0" rIns="0" bIns="0" rtlCol="0" anchor="ctr"/>
          <a:lstStyle/>
          <a:p>
            <a:pPr marL="0" indent="0">
              <a:buNone/>
            </a:pPr>
            <a:r>
              <a:rPr lang="en-US" sz="1050" dirty="0">
                <a:solidFill>
                  <a:srgbClr val="94A3B8"/>
                </a:solidFill>
                <a:latin typeface="Arial" pitchFamily="34" charset="0"/>
                <a:ea typeface="Arial" pitchFamily="34" charset="-122"/>
                <a:cs typeface="Arial" pitchFamily="34" charset="-120"/>
              </a:rPr>
              <a:t>Μηνιαίες αναφορές έτοιμες για αποθήκευση και έλεγχο</a:t>
            </a:r>
            <a:endParaRPr lang="en-US" sz="1050" dirty="0"/>
          </a:p>
        </p:txBody>
      </p:sp>
      <p:sp>
        <p:nvSpPr>
          <p:cNvPr id="4" name="Shape 2"/>
          <p:cNvSpPr/>
          <p:nvPr/>
        </p:nvSpPr>
        <p:spPr>
          <a:xfrm>
            <a:off x="502920" y="1078992"/>
            <a:ext cx="11201400" cy="0"/>
          </a:xfrm>
          <a:prstGeom prst="line">
            <a:avLst/>
          </a:prstGeom>
          <a:noFill/>
          <a:ln w="10160">
            <a:solidFill>
              <a:srgbClr val="334155"/>
            </a:solidFill>
            <a:prstDash val="solid"/>
          </a:ln>
        </p:spPr>
      </p:sp>
      <p:sp>
        <p:nvSpPr>
          <p:cNvPr id="5" name="Shape 3"/>
          <p:cNvSpPr/>
          <p:nvPr/>
        </p:nvSpPr>
        <p:spPr>
          <a:xfrm>
            <a:off x="502920" y="1078992"/>
            <a:ext cx="1234440" cy="0"/>
          </a:xfrm>
          <a:prstGeom prst="line">
            <a:avLst/>
          </a:prstGeom>
          <a:noFill/>
          <a:ln w="30480">
            <a:solidFill>
              <a:srgbClr val="3B82F6"/>
            </a:solidFill>
            <a:prstDash val="solid"/>
          </a:ln>
        </p:spPr>
      </p:sp>
      <p:sp>
        <p:nvSpPr>
          <p:cNvPr id="6" name="Text 4"/>
          <p:cNvSpPr/>
          <p:nvPr/>
        </p:nvSpPr>
        <p:spPr>
          <a:xfrm>
            <a:off x="502920" y="6473952"/>
            <a:ext cx="6400800" cy="164592"/>
          </a:xfrm>
          <a:prstGeom prst="rect">
            <a:avLst/>
          </a:prstGeom>
          <a:noFill/>
          <a:ln/>
        </p:spPr>
        <p:txBody>
          <a:bodyPr wrap="square" lIns="0" tIns="0" rIns="0" bIns="0" rtlCol="0" anchor="ctr"/>
          <a:lstStyle/>
          <a:p>
            <a:pPr marL="0" indent="0">
              <a:buNone/>
            </a:pPr>
            <a:r>
              <a:rPr lang="en-US" sz="750" dirty="0">
                <a:solidFill>
                  <a:srgbClr val="94A3B8"/>
                </a:solidFill>
                <a:latin typeface="Arial" pitchFamily="34" charset="0"/>
                <a:ea typeface="Arial" pitchFamily="34" charset="-122"/>
                <a:cs typeface="Arial" pitchFamily="34" charset="-120"/>
              </a:rPr>
              <a:t>ΠΛΗΠΡΟ - Project 06 | Personal Finance Manager</a:t>
            </a:r>
            <a:endParaRPr lang="en-US" sz="750" dirty="0"/>
          </a:p>
        </p:txBody>
      </p:sp>
      <p:sp>
        <p:nvSpPr>
          <p:cNvPr id="7" name="Text 5"/>
          <p:cNvSpPr/>
          <p:nvPr/>
        </p:nvSpPr>
        <p:spPr>
          <a:xfrm>
            <a:off x="11292840" y="6428232"/>
            <a:ext cx="347472" cy="228600"/>
          </a:xfrm>
          <a:prstGeom prst="rect">
            <a:avLst/>
          </a:prstGeom>
          <a:noFill/>
          <a:ln/>
        </p:spPr>
        <p:txBody>
          <a:bodyPr wrap="square" lIns="0" tIns="0" rIns="0" bIns="0" rtlCol="0" anchor="ctr"/>
          <a:lstStyle/>
          <a:p>
            <a:pPr marL="0" indent="0" algn="ctr">
              <a:buNone/>
            </a:pPr>
            <a:r>
              <a:rPr lang="en-US" sz="850" b="1" dirty="0">
                <a:solidFill>
                  <a:srgbClr val="60A5FA"/>
                </a:solidFill>
                <a:latin typeface="Arial" pitchFamily="34" charset="0"/>
                <a:ea typeface="Arial" pitchFamily="34" charset="-122"/>
                <a:cs typeface="Arial" pitchFamily="34" charset="-120"/>
              </a:rPr>
              <a:t>10</a:t>
            </a:r>
            <a:endParaRPr lang="en-US" sz="850" dirty="0"/>
          </a:p>
        </p:txBody>
      </p:sp>
      <p:pic>
        <p:nvPicPr>
          <p:cNvPr id="8" name="Image 0" descr="/mnt/data/S09_excel_export.png"/>
          <p:cNvPicPr>
            <a:picLocks noChangeAspect="1"/>
          </p:cNvPicPr>
          <p:nvPr/>
        </p:nvPicPr>
        <p:blipFill>
          <a:blip r:embed="rId3"/>
          <a:stretch>
            <a:fillRect/>
          </a:stretch>
        </p:blipFill>
        <p:spPr>
          <a:xfrm>
            <a:off x="594360" y="1332324"/>
            <a:ext cx="3886200" cy="3781872"/>
          </a:xfrm>
          <a:prstGeom prst="rect">
            <a:avLst/>
          </a:prstGeom>
        </p:spPr>
      </p:pic>
      <p:sp>
        <p:nvSpPr>
          <p:cNvPr id="9" name="Shape 6"/>
          <p:cNvSpPr/>
          <p:nvPr/>
        </p:nvSpPr>
        <p:spPr>
          <a:xfrm>
            <a:off x="594360" y="1325880"/>
            <a:ext cx="3886200" cy="3794760"/>
          </a:xfrm>
          <a:prstGeom prst="rect">
            <a:avLst/>
          </a:prstGeom>
          <a:solidFill>
            <a:srgbClr val="FFFFFF">
              <a:alpha val="0"/>
            </a:srgbClr>
          </a:solidFill>
          <a:ln w="7620">
            <a:solidFill>
              <a:srgbClr val="334155"/>
            </a:solidFill>
            <a:prstDash val="solid"/>
          </a:ln>
        </p:spPr>
      </p:sp>
      <p:pic>
        <p:nvPicPr>
          <p:cNvPr id="10" name="Image 1" descr="/mnt/data/S10_pdf_export.png"/>
          <p:cNvPicPr>
            <a:picLocks noChangeAspect="1"/>
          </p:cNvPicPr>
          <p:nvPr/>
        </p:nvPicPr>
        <p:blipFill>
          <a:blip r:embed="rId4"/>
          <a:stretch>
            <a:fillRect/>
          </a:stretch>
        </p:blipFill>
        <p:spPr>
          <a:xfrm>
            <a:off x="4754880" y="2005184"/>
            <a:ext cx="3154680" cy="2436152"/>
          </a:xfrm>
          <a:prstGeom prst="rect">
            <a:avLst/>
          </a:prstGeom>
        </p:spPr>
      </p:pic>
      <p:sp>
        <p:nvSpPr>
          <p:cNvPr id="11" name="Shape 7"/>
          <p:cNvSpPr/>
          <p:nvPr/>
        </p:nvSpPr>
        <p:spPr>
          <a:xfrm>
            <a:off x="4754880" y="1325880"/>
            <a:ext cx="3154680" cy="3794760"/>
          </a:xfrm>
          <a:prstGeom prst="rect">
            <a:avLst/>
          </a:prstGeom>
          <a:solidFill>
            <a:srgbClr val="FFFFFF">
              <a:alpha val="0"/>
            </a:srgbClr>
          </a:solidFill>
          <a:ln w="7620">
            <a:solidFill>
              <a:srgbClr val="334155"/>
            </a:solidFill>
            <a:prstDash val="solid"/>
          </a:ln>
        </p:spPr>
      </p:sp>
      <p:pic>
        <p:nvPicPr>
          <p:cNvPr id="12" name="Image 2" descr="/mnt/data/S10_pdf_export2.png"/>
          <p:cNvPicPr>
            <a:picLocks noChangeAspect="1"/>
          </p:cNvPicPr>
          <p:nvPr/>
        </p:nvPicPr>
        <p:blipFill>
          <a:blip r:embed="rId5"/>
          <a:stretch>
            <a:fillRect/>
          </a:stretch>
        </p:blipFill>
        <p:spPr>
          <a:xfrm>
            <a:off x="8335041" y="1325880"/>
            <a:ext cx="2760918" cy="3794760"/>
          </a:xfrm>
          <a:prstGeom prst="rect">
            <a:avLst/>
          </a:prstGeom>
        </p:spPr>
      </p:pic>
      <p:sp>
        <p:nvSpPr>
          <p:cNvPr id="13" name="Shape 8"/>
          <p:cNvSpPr/>
          <p:nvPr/>
        </p:nvSpPr>
        <p:spPr>
          <a:xfrm>
            <a:off x="8275320" y="1325880"/>
            <a:ext cx="2880360" cy="3794760"/>
          </a:xfrm>
          <a:prstGeom prst="rect">
            <a:avLst/>
          </a:prstGeom>
          <a:solidFill>
            <a:srgbClr val="FFFFFF">
              <a:alpha val="0"/>
            </a:srgbClr>
          </a:solidFill>
          <a:ln w="7620">
            <a:solidFill>
              <a:srgbClr val="334155"/>
            </a:solidFill>
            <a:prstDash val="solid"/>
          </a:ln>
        </p:spPr>
      </p:sp>
      <p:sp>
        <p:nvSpPr>
          <p:cNvPr id="14" name="Text 9"/>
          <p:cNvSpPr/>
          <p:nvPr/>
        </p:nvSpPr>
        <p:spPr>
          <a:xfrm>
            <a:off x="777240" y="5376671"/>
            <a:ext cx="10607040" cy="941825"/>
          </a:xfrm>
          <a:prstGeom prst="rect">
            <a:avLst/>
          </a:prstGeom>
          <a:noFill/>
          <a:ln/>
        </p:spPr>
        <p:txBody>
          <a:bodyPr wrap="square" lIns="635" tIns="635" rIns="635" bIns="635" rtlCol="0" anchor="t">
            <a:normAutofit fontScale="92500" lnSpcReduction="10000"/>
          </a:bodyPr>
          <a:lstStyle/>
          <a:p>
            <a:pPr marL="0" indent="0">
              <a:buNone/>
            </a:pPr>
            <a:r>
              <a:rPr lang="en-US" sz="1450" b="1" u="sng" dirty="0" err="1">
                <a:solidFill>
                  <a:srgbClr val="60A5FA"/>
                </a:solidFill>
                <a:latin typeface="Arial" pitchFamily="34" charset="0"/>
                <a:ea typeface="Arial" pitchFamily="34" charset="-122"/>
                <a:cs typeface="Arial" pitchFamily="34" charset="-120"/>
              </a:rPr>
              <a:t>Σημ</a:t>
            </a:r>
            <a:r>
              <a:rPr lang="en-US" sz="1450" b="1" u="sng" dirty="0">
                <a:solidFill>
                  <a:srgbClr val="60A5FA"/>
                </a:solidFill>
                <a:latin typeface="Arial" pitchFamily="34" charset="0"/>
                <a:ea typeface="Arial" pitchFamily="34" charset="-122"/>
                <a:cs typeface="Arial" pitchFamily="34" charset="-120"/>
              </a:rPr>
              <a:t>αντικές λεπτομέρειες</a:t>
            </a:r>
            <a:endParaRPr lang="el-GR" sz="1450" b="1" u="sng" dirty="0">
              <a:solidFill>
                <a:srgbClr val="60A5FA"/>
              </a:solidFill>
              <a:latin typeface="Arial" pitchFamily="34" charset="0"/>
              <a:ea typeface="Arial" pitchFamily="34" charset="-122"/>
              <a:cs typeface="Arial" pitchFamily="34" charset="-120"/>
            </a:endParaRPr>
          </a:p>
          <a:p>
            <a:pPr marL="0" indent="0">
              <a:buNone/>
            </a:pPr>
            <a:endParaRPr lang="en-US" sz="1220" u="sng" dirty="0"/>
          </a:p>
          <a:p>
            <a:pPr marL="285750" indent="-285750">
              <a:buFont typeface="Wingdings" panose="05000000000000000000" pitchFamily="2" charset="2"/>
              <a:buChar char="ü"/>
            </a:pPr>
            <a:r>
              <a:rPr lang="en-US" sz="1220" dirty="0">
                <a:solidFill>
                  <a:srgbClr val="E5E7EB"/>
                </a:solidFill>
                <a:latin typeface="Arial" pitchFamily="34" charset="0"/>
                <a:ea typeface="Arial" pitchFamily="34" charset="-122"/>
                <a:cs typeface="Arial" pitchFamily="34" charset="-120"/>
              </a:rPr>
              <a:t>Export ανά συγκεκριμένο μήνα και έτος.</a:t>
            </a:r>
            <a:endParaRPr lang="en-US" sz="1220" dirty="0"/>
          </a:p>
          <a:p>
            <a:pPr marL="285750" indent="-285750">
              <a:buFont typeface="Wingdings" panose="05000000000000000000" pitchFamily="2" charset="2"/>
              <a:buChar char="ü"/>
            </a:pPr>
            <a:r>
              <a:rPr lang="en-US" sz="1220" dirty="0">
                <a:solidFill>
                  <a:srgbClr val="E5E7EB"/>
                </a:solidFill>
                <a:latin typeface="Arial" pitchFamily="34" charset="0"/>
                <a:ea typeface="Arial" pitchFamily="34" charset="-122"/>
                <a:cs typeface="Arial" pitchFamily="34" charset="-120"/>
              </a:rPr>
              <a:t>Ημερομηνίες σε DD-MM-YYYY για τον τελικό χρήστη.</a:t>
            </a:r>
            <a:endParaRPr lang="en-US" sz="1220" dirty="0"/>
          </a:p>
          <a:p>
            <a:pPr marL="285750" indent="-285750">
              <a:buFont typeface="Wingdings" panose="05000000000000000000" pitchFamily="2" charset="2"/>
              <a:buChar char="ü"/>
            </a:pPr>
            <a:r>
              <a:rPr lang="en-US" sz="1220" dirty="0">
                <a:solidFill>
                  <a:srgbClr val="E5E7EB"/>
                </a:solidFill>
                <a:latin typeface="Arial" pitchFamily="34" charset="0"/>
                <a:ea typeface="Arial" pitchFamily="34" charset="-122"/>
                <a:cs typeface="Arial" pitchFamily="34" charset="-120"/>
              </a:rPr>
              <a:t>Τα έξοδα εμφανίζονται με αρνητικό πρόσημο.</a:t>
            </a:r>
            <a:endParaRPr lang="en-US" sz="1220" dirty="0"/>
          </a:p>
          <a:p>
            <a:pPr marL="285750" indent="-285750">
              <a:buFont typeface="Wingdings" panose="05000000000000000000" pitchFamily="2" charset="2"/>
              <a:buChar char="ü"/>
            </a:pPr>
            <a:r>
              <a:rPr lang="en-US" sz="1220" dirty="0">
                <a:solidFill>
                  <a:srgbClr val="E5E7EB"/>
                </a:solidFill>
                <a:latin typeface="Arial" pitchFamily="34" charset="0"/>
                <a:ea typeface="Arial" pitchFamily="34" charset="-122"/>
                <a:cs typeface="Arial" pitchFamily="34" charset="-120"/>
              </a:rPr>
              <a:t>Το PDF υποστηρίζει ελληνικούς χαρακτήρες και ενσωματώνει γράφημα εξόδων.</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02920" y="320040"/>
            <a:ext cx="8412480" cy="384048"/>
          </a:xfrm>
          <a:prstGeom prst="rect">
            <a:avLst/>
          </a:prstGeom>
          <a:noFill/>
          <a:ln/>
        </p:spPr>
        <p:txBody>
          <a:bodyPr wrap="square" lIns="0" tIns="0" rIns="0" bIns="0" rtlCol="0" anchor="ctr"/>
          <a:lstStyle/>
          <a:p>
            <a:pPr marL="0" indent="0">
              <a:buNone/>
            </a:pPr>
            <a:r>
              <a:rPr lang="en-US" sz="2400" b="1" dirty="0">
                <a:solidFill>
                  <a:srgbClr val="F8FAFC"/>
                </a:solidFill>
                <a:latin typeface="Arial" pitchFamily="34" charset="0"/>
                <a:ea typeface="Arial" pitchFamily="34" charset="-122"/>
                <a:cs typeface="Arial" pitchFamily="34" charset="-120"/>
              </a:rPr>
              <a:t>Οργάνωση ομάδας και έλεγχοι</a:t>
            </a:r>
            <a:endParaRPr lang="en-US" sz="2400" dirty="0"/>
          </a:p>
        </p:txBody>
      </p:sp>
      <p:sp>
        <p:nvSpPr>
          <p:cNvPr id="3" name="Text 1"/>
          <p:cNvSpPr/>
          <p:nvPr/>
        </p:nvSpPr>
        <p:spPr>
          <a:xfrm>
            <a:off x="521208" y="749808"/>
            <a:ext cx="8046720" cy="219456"/>
          </a:xfrm>
          <a:prstGeom prst="rect">
            <a:avLst/>
          </a:prstGeom>
          <a:noFill/>
          <a:ln/>
        </p:spPr>
        <p:txBody>
          <a:bodyPr wrap="square" lIns="0" tIns="0" rIns="0" bIns="0" rtlCol="0" anchor="ctr"/>
          <a:lstStyle/>
          <a:p>
            <a:pPr marL="0" indent="0">
              <a:buNone/>
            </a:pPr>
            <a:r>
              <a:rPr lang="en-US" sz="1050" dirty="0">
                <a:solidFill>
                  <a:srgbClr val="94A3B8"/>
                </a:solidFill>
                <a:latin typeface="Arial" pitchFamily="34" charset="0"/>
                <a:ea typeface="Arial" pitchFamily="34" charset="-122"/>
                <a:cs typeface="Arial" pitchFamily="34" charset="-120"/>
              </a:rPr>
              <a:t>GitHub για τον κώδικα, ClickUp βοηθητικά για ιχνηλάτηση και manual test cycle</a:t>
            </a:r>
            <a:endParaRPr lang="en-US" sz="1050" dirty="0"/>
          </a:p>
        </p:txBody>
      </p:sp>
      <p:sp>
        <p:nvSpPr>
          <p:cNvPr id="4" name="Shape 2"/>
          <p:cNvSpPr/>
          <p:nvPr/>
        </p:nvSpPr>
        <p:spPr>
          <a:xfrm>
            <a:off x="502920" y="1078992"/>
            <a:ext cx="11201400" cy="0"/>
          </a:xfrm>
          <a:prstGeom prst="line">
            <a:avLst/>
          </a:prstGeom>
          <a:noFill/>
          <a:ln w="10160">
            <a:solidFill>
              <a:srgbClr val="334155"/>
            </a:solidFill>
            <a:prstDash val="solid"/>
          </a:ln>
        </p:spPr>
      </p:sp>
      <p:sp>
        <p:nvSpPr>
          <p:cNvPr id="5" name="Shape 3"/>
          <p:cNvSpPr/>
          <p:nvPr/>
        </p:nvSpPr>
        <p:spPr>
          <a:xfrm>
            <a:off x="502920" y="1078992"/>
            <a:ext cx="1234440" cy="0"/>
          </a:xfrm>
          <a:prstGeom prst="line">
            <a:avLst/>
          </a:prstGeom>
          <a:noFill/>
          <a:ln w="30480">
            <a:solidFill>
              <a:srgbClr val="3B82F6"/>
            </a:solidFill>
            <a:prstDash val="solid"/>
          </a:ln>
        </p:spPr>
      </p:sp>
      <p:sp>
        <p:nvSpPr>
          <p:cNvPr id="6" name="Text 4"/>
          <p:cNvSpPr/>
          <p:nvPr/>
        </p:nvSpPr>
        <p:spPr>
          <a:xfrm>
            <a:off x="502920" y="6473952"/>
            <a:ext cx="6400800" cy="164592"/>
          </a:xfrm>
          <a:prstGeom prst="rect">
            <a:avLst/>
          </a:prstGeom>
          <a:noFill/>
          <a:ln/>
        </p:spPr>
        <p:txBody>
          <a:bodyPr wrap="square" lIns="0" tIns="0" rIns="0" bIns="0" rtlCol="0" anchor="ctr"/>
          <a:lstStyle/>
          <a:p>
            <a:pPr marL="0" indent="0">
              <a:buNone/>
            </a:pPr>
            <a:r>
              <a:rPr lang="en-US" sz="750" dirty="0">
                <a:solidFill>
                  <a:srgbClr val="94A3B8"/>
                </a:solidFill>
                <a:latin typeface="Arial" pitchFamily="34" charset="0"/>
                <a:ea typeface="Arial" pitchFamily="34" charset="-122"/>
                <a:cs typeface="Arial" pitchFamily="34" charset="-120"/>
              </a:rPr>
              <a:t>ΠΛΗΠΡΟ - Project 06 | Personal Finance Manager</a:t>
            </a:r>
            <a:endParaRPr lang="en-US" sz="750" dirty="0"/>
          </a:p>
        </p:txBody>
      </p:sp>
      <p:sp>
        <p:nvSpPr>
          <p:cNvPr id="7" name="Text 5"/>
          <p:cNvSpPr/>
          <p:nvPr/>
        </p:nvSpPr>
        <p:spPr>
          <a:xfrm>
            <a:off x="11292840" y="6428232"/>
            <a:ext cx="347472" cy="228600"/>
          </a:xfrm>
          <a:prstGeom prst="rect">
            <a:avLst/>
          </a:prstGeom>
          <a:noFill/>
          <a:ln/>
        </p:spPr>
        <p:txBody>
          <a:bodyPr wrap="square" lIns="0" tIns="0" rIns="0" bIns="0" rtlCol="0" anchor="ctr"/>
          <a:lstStyle/>
          <a:p>
            <a:pPr marL="0" indent="0" algn="ctr">
              <a:buNone/>
            </a:pPr>
            <a:r>
              <a:rPr lang="en-US" sz="850" b="1" dirty="0">
                <a:solidFill>
                  <a:srgbClr val="60A5FA"/>
                </a:solidFill>
                <a:latin typeface="Arial" pitchFamily="34" charset="0"/>
                <a:ea typeface="Arial" pitchFamily="34" charset="-122"/>
                <a:cs typeface="Arial" pitchFamily="34" charset="-120"/>
              </a:rPr>
              <a:t>11</a:t>
            </a:r>
            <a:endParaRPr lang="en-US" sz="850" dirty="0"/>
          </a:p>
        </p:txBody>
      </p:sp>
      <p:sp>
        <p:nvSpPr>
          <p:cNvPr id="8" name="Text 6"/>
          <p:cNvSpPr/>
          <p:nvPr/>
        </p:nvSpPr>
        <p:spPr>
          <a:xfrm>
            <a:off x="685800" y="1353312"/>
            <a:ext cx="2926080" cy="274320"/>
          </a:xfrm>
          <a:prstGeom prst="rect">
            <a:avLst/>
          </a:prstGeom>
          <a:noFill/>
          <a:ln/>
        </p:spPr>
        <p:txBody>
          <a:bodyPr wrap="square" lIns="0" tIns="0" rIns="0" bIns="0" rtlCol="0" anchor="ctr"/>
          <a:lstStyle/>
          <a:p>
            <a:pPr marL="0" indent="0">
              <a:buNone/>
            </a:pPr>
            <a:r>
              <a:rPr lang="en-US" sz="1500" b="1" dirty="0">
                <a:solidFill>
                  <a:srgbClr val="60A5FA"/>
                </a:solidFill>
                <a:latin typeface="Arial" pitchFamily="34" charset="0"/>
                <a:ea typeface="Arial" pitchFamily="34" charset="-122"/>
                <a:cs typeface="Arial" pitchFamily="34" charset="-120"/>
              </a:rPr>
              <a:t>GitHub repository</a:t>
            </a:r>
            <a:endParaRPr lang="en-US" sz="1500" dirty="0"/>
          </a:p>
        </p:txBody>
      </p:sp>
      <p:sp>
        <p:nvSpPr>
          <p:cNvPr id="9" name="Shape 7"/>
          <p:cNvSpPr/>
          <p:nvPr/>
        </p:nvSpPr>
        <p:spPr>
          <a:xfrm>
            <a:off x="685800" y="1755648"/>
            <a:ext cx="4800600" cy="1115568"/>
          </a:xfrm>
          <a:prstGeom prst="roundRect">
            <a:avLst>
              <a:gd name="adj" fmla="val 6557"/>
            </a:avLst>
          </a:prstGeom>
          <a:solidFill>
            <a:srgbClr val="1E293B"/>
          </a:solidFill>
          <a:ln w="10160">
            <a:solidFill>
              <a:srgbClr val="334155"/>
            </a:solidFill>
            <a:prstDash val="solid"/>
          </a:ln>
        </p:spPr>
      </p:sp>
      <p:sp>
        <p:nvSpPr>
          <p:cNvPr id="10" name="Text 8">
            <a:hlinkClick r:id="rId3"/>
          </p:cNvPr>
          <p:cNvSpPr/>
          <p:nvPr/>
        </p:nvSpPr>
        <p:spPr>
          <a:xfrm>
            <a:off x="896112" y="2011680"/>
            <a:ext cx="4370832" cy="256032"/>
          </a:xfrm>
          <a:prstGeom prst="rect">
            <a:avLst/>
          </a:prstGeom>
          <a:noFill/>
          <a:ln/>
        </p:spPr>
        <p:txBody>
          <a:bodyPr wrap="square" lIns="0" tIns="0" rIns="0" bIns="0" rtlCol="0" anchor="ctr">
            <a:normAutofit/>
          </a:bodyPr>
          <a:lstStyle/>
          <a:p>
            <a:pPr marL="0" indent="0">
              <a:buNone/>
            </a:pPr>
            <a:r>
              <a:rPr lang="en-US" sz="1080" b="1" u="sng" dirty="0">
                <a:solidFill>
                  <a:srgbClr val="F8FAFC"/>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github.com/efourtoulakis/Personal-Finance-App-EAP</a:t>
            </a:r>
            <a:endParaRPr lang="en-US" sz="1080" dirty="0"/>
          </a:p>
        </p:txBody>
      </p:sp>
      <p:sp>
        <p:nvSpPr>
          <p:cNvPr id="11" name="Text 9"/>
          <p:cNvSpPr/>
          <p:nvPr/>
        </p:nvSpPr>
        <p:spPr>
          <a:xfrm>
            <a:off x="896112" y="2395728"/>
            <a:ext cx="4343400" cy="256032"/>
          </a:xfrm>
          <a:prstGeom prst="rect">
            <a:avLst/>
          </a:prstGeom>
          <a:noFill/>
          <a:ln/>
        </p:spPr>
        <p:txBody>
          <a:bodyPr wrap="square" lIns="0" tIns="0" rIns="0" bIns="0" rtlCol="0" anchor="ctr">
            <a:normAutofit fontScale="92500" lnSpcReduction="20000"/>
          </a:bodyPr>
          <a:lstStyle/>
          <a:p>
            <a:pPr marL="0" indent="0">
              <a:buNone/>
            </a:pPr>
            <a:r>
              <a:rPr lang="en-US" sz="1060" dirty="0">
                <a:solidFill>
                  <a:srgbClr val="CBD5E1"/>
                </a:solidFill>
                <a:latin typeface="Arial" pitchFamily="34" charset="0"/>
                <a:ea typeface="Arial" pitchFamily="34" charset="-122"/>
                <a:cs typeface="Arial" pitchFamily="34" charset="-120"/>
              </a:rPr>
              <a:t>Περιλαμβάνει κώδικα, README, requirements και τη modular δομή της εφαρμογής.</a:t>
            </a:r>
            <a:endParaRPr lang="en-US" sz="1060" dirty="0"/>
          </a:p>
        </p:txBody>
      </p:sp>
      <p:sp>
        <p:nvSpPr>
          <p:cNvPr id="14" name="Text 12"/>
          <p:cNvSpPr/>
          <p:nvPr/>
        </p:nvSpPr>
        <p:spPr>
          <a:xfrm>
            <a:off x="5989320" y="1353312"/>
            <a:ext cx="2926080" cy="274320"/>
          </a:xfrm>
          <a:prstGeom prst="rect">
            <a:avLst/>
          </a:prstGeom>
          <a:noFill/>
          <a:ln/>
        </p:spPr>
        <p:txBody>
          <a:bodyPr wrap="square" lIns="0" tIns="0" rIns="0" bIns="0" rtlCol="0" anchor="ctr"/>
          <a:lstStyle/>
          <a:p>
            <a:pPr marL="0" indent="0">
              <a:buNone/>
            </a:pPr>
            <a:r>
              <a:rPr lang="en-US" sz="1500" b="1" dirty="0">
                <a:solidFill>
                  <a:srgbClr val="60A5FA"/>
                </a:solidFill>
                <a:latin typeface="Arial" pitchFamily="34" charset="0"/>
                <a:ea typeface="Arial" pitchFamily="34" charset="-122"/>
                <a:cs typeface="Arial" pitchFamily="34" charset="-120"/>
              </a:rPr>
              <a:t>ClickUp / ιχνηλάτηση</a:t>
            </a:r>
            <a:endParaRPr lang="en-US" sz="1500" dirty="0"/>
          </a:p>
        </p:txBody>
      </p:sp>
      <p:pic>
        <p:nvPicPr>
          <p:cNvPr id="15" name="Image 0" descr="/mnt/data/S12_clickup_overview2.png"/>
          <p:cNvPicPr>
            <a:picLocks noChangeAspect="1"/>
          </p:cNvPicPr>
          <p:nvPr/>
        </p:nvPicPr>
        <p:blipFill>
          <a:blip r:embed="rId4"/>
          <a:stretch>
            <a:fillRect/>
          </a:stretch>
        </p:blipFill>
        <p:spPr>
          <a:xfrm>
            <a:off x="6684352" y="1755648"/>
            <a:ext cx="4050615" cy="2148840"/>
          </a:xfrm>
          <a:prstGeom prst="rect">
            <a:avLst/>
          </a:prstGeom>
        </p:spPr>
      </p:pic>
      <p:sp>
        <p:nvSpPr>
          <p:cNvPr id="16" name="Shape 13"/>
          <p:cNvSpPr/>
          <p:nvPr/>
        </p:nvSpPr>
        <p:spPr>
          <a:xfrm>
            <a:off x="5989320" y="1755648"/>
            <a:ext cx="5440680" cy="2148840"/>
          </a:xfrm>
          <a:prstGeom prst="rect">
            <a:avLst/>
          </a:prstGeom>
          <a:solidFill>
            <a:srgbClr val="FFFFFF">
              <a:alpha val="0"/>
            </a:srgbClr>
          </a:solidFill>
          <a:ln w="7620">
            <a:solidFill>
              <a:srgbClr val="334155"/>
            </a:solidFill>
            <a:prstDash val="solid"/>
          </a:ln>
        </p:spPr>
      </p:sp>
      <p:sp>
        <p:nvSpPr>
          <p:cNvPr id="17" name="Text 14"/>
          <p:cNvSpPr/>
          <p:nvPr/>
        </p:nvSpPr>
        <p:spPr>
          <a:xfrm>
            <a:off x="5989320" y="4041648"/>
            <a:ext cx="5440680" cy="502920"/>
          </a:xfrm>
          <a:prstGeom prst="rect">
            <a:avLst/>
          </a:prstGeom>
          <a:noFill/>
          <a:ln/>
        </p:spPr>
        <p:txBody>
          <a:bodyPr wrap="square" lIns="254" tIns="254" rIns="254" bIns="254" rtlCol="0" anchor="ctr">
            <a:normAutofit fontScale="85000" lnSpcReduction="20000"/>
          </a:bodyPr>
          <a:lstStyle/>
          <a:p>
            <a:pPr marL="0" indent="0">
              <a:buNone/>
            </a:pPr>
            <a:r>
              <a:rPr lang="en-US" sz="1150" dirty="0">
                <a:solidFill>
                  <a:srgbClr val="CBD5E1"/>
                </a:solidFill>
                <a:latin typeface="Arial" pitchFamily="34" charset="0"/>
                <a:ea typeface="Arial" pitchFamily="34" charset="-122"/>
                <a:cs typeface="Arial" pitchFamily="34" charset="-120"/>
              </a:rPr>
              <a:t>Το ClickUp χρησιμοποιήθηκε ως βοηθητικό εργαλείο οργάνωσης: φάσεις εργασίας, υπεύθυνοι, χρόνοι, statuses και τελικά παραδοτέα.</a:t>
            </a:r>
            <a:br>
              <a:rPr lang="en-US" sz="1150" dirty="0">
                <a:solidFill>
                  <a:srgbClr val="CBD5E1"/>
                </a:solidFill>
                <a:latin typeface="Arial" pitchFamily="34" charset="0"/>
                <a:ea typeface="Arial" pitchFamily="34" charset="-122"/>
                <a:cs typeface="Arial" pitchFamily="34" charset="-120"/>
              </a:rPr>
            </a:br>
            <a:br>
              <a:rPr lang="en-US" sz="1150" dirty="0">
                <a:solidFill>
                  <a:srgbClr val="CBD5E1"/>
                </a:solidFill>
                <a:latin typeface="Arial" pitchFamily="34" charset="0"/>
                <a:ea typeface="Arial" pitchFamily="34" charset="-122"/>
                <a:cs typeface="Arial" pitchFamily="34" charset="-120"/>
              </a:rPr>
            </a:br>
            <a:endParaRPr lang="en-US" sz="1150" dirty="0"/>
          </a:p>
        </p:txBody>
      </p:sp>
      <p:sp>
        <p:nvSpPr>
          <p:cNvPr id="18" name="Text 15"/>
          <p:cNvSpPr/>
          <p:nvPr/>
        </p:nvSpPr>
        <p:spPr>
          <a:xfrm>
            <a:off x="5989319" y="5075768"/>
            <a:ext cx="5440680" cy="1051560"/>
          </a:xfrm>
          <a:prstGeom prst="rect">
            <a:avLst/>
          </a:prstGeom>
          <a:noFill/>
          <a:ln/>
        </p:spPr>
        <p:txBody>
          <a:bodyPr wrap="square" lIns="635" tIns="635" rIns="635" bIns="635" rtlCol="0" anchor="t">
            <a:normAutofit/>
          </a:bodyPr>
          <a:lstStyle/>
          <a:p>
            <a:pPr marL="0" indent="0">
              <a:buNone/>
            </a:pPr>
            <a:r>
              <a:rPr lang="en-US" sz="1450" b="1" dirty="0">
                <a:solidFill>
                  <a:srgbClr val="22C55E"/>
                </a:solidFill>
                <a:latin typeface="Arial" pitchFamily="34" charset="0"/>
                <a:ea typeface="Arial" pitchFamily="34" charset="-122"/>
                <a:cs typeface="Arial" pitchFamily="34" charset="-120"/>
              </a:rPr>
              <a:t>Manual test cycle</a:t>
            </a:r>
            <a:endParaRPr lang="en-US" sz="1180" dirty="0"/>
          </a:p>
          <a:p>
            <a:r>
              <a:rPr lang="en-US" sz="1180" dirty="0">
                <a:solidFill>
                  <a:srgbClr val="E5E7EB"/>
                </a:solidFill>
                <a:latin typeface="Arial" pitchFamily="34" charset="0"/>
                <a:ea typeface="Arial" pitchFamily="34" charset="-122"/>
                <a:cs typeface="Arial" pitchFamily="34" charset="-120"/>
              </a:rPr>
              <a:t>T00 Compile check, T01 App start, T02 Filters.</a:t>
            </a:r>
            <a:endParaRPr lang="en-US" sz="1180" dirty="0"/>
          </a:p>
          <a:p>
            <a:r>
              <a:rPr lang="en-US" sz="1180" dirty="0">
                <a:solidFill>
                  <a:srgbClr val="E5E7EB"/>
                </a:solidFill>
                <a:latin typeface="Arial" pitchFamily="34" charset="0"/>
                <a:ea typeface="Arial" pitchFamily="34" charset="-122"/>
                <a:cs typeface="Arial" pitchFamily="34" charset="-120"/>
              </a:rPr>
              <a:t>T03 Categories CRUD, T04 Transactions CRUD.</a:t>
            </a:r>
            <a:endParaRPr lang="en-US" sz="1180" dirty="0"/>
          </a:p>
          <a:p>
            <a:r>
              <a:rPr lang="en-US" sz="1180" dirty="0">
                <a:solidFill>
                  <a:srgbClr val="E5E7EB"/>
                </a:solidFill>
                <a:latin typeface="Arial" pitchFamily="34" charset="0"/>
                <a:ea typeface="Arial" pitchFamily="34" charset="-122"/>
                <a:cs typeface="Arial" pitchFamily="34" charset="-120"/>
              </a:rPr>
              <a:t>T05 Recurring, T06 Charts, T07 Exports.</a:t>
            </a:r>
            <a:endParaRPr lang="en-US" sz="1180" dirty="0"/>
          </a:p>
          <a:p>
            <a:r>
              <a:rPr lang="en-US" sz="1180" dirty="0">
                <a:solidFill>
                  <a:srgbClr val="E5E7EB"/>
                </a:solidFill>
                <a:latin typeface="Arial" pitchFamily="34" charset="0"/>
                <a:ea typeface="Arial" pitchFamily="34" charset="-122"/>
                <a:cs typeface="Arial" pitchFamily="34" charset="-120"/>
              </a:rPr>
              <a:t>T08 Validation / Error handling, T09 Production readiness.</a:t>
            </a:r>
            <a:endParaRPr lang="en-US" sz="1180" dirty="0"/>
          </a:p>
        </p:txBody>
      </p:sp>
      <p:pic>
        <p:nvPicPr>
          <p:cNvPr id="20" name="Εικόνα 19">
            <a:extLst>
              <a:ext uri="{FF2B5EF4-FFF2-40B4-BE49-F238E27FC236}">
                <a16:creationId xmlns:a16="http://schemas.microsoft.com/office/drawing/2014/main" id="{E1E6854B-E5E1-4576-A453-BCC06A272DE9}"/>
              </a:ext>
            </a:extLst>
          </p:cNvPr>
          <p:cNvPicPr>
            <a:picLocks noChangeAspect="1"/>
          </p:cNvPicPr>
          <p:nvPr/>
        </p:nvPicPr>
        <p:blipFill>
          <a:blip r:embed="rId5"/>
          <a:stretch>
            <a:fillRect/>
          </a:stretch>
        </p:blipFill>
        <p:spPr>
          <a:xfrm>
            <a:off x="336299" y="3382453"/>
            <a:ext cx="4859431" cy="2734883"/>
          </a:xfrm>
          <a:prstGeom prst="rect">
            <a:avLst/>
          </a:prstGeom>
        </p:spPr>
      </p:pic>
      <p:sp>
        <p:nvSpPr>
          <p:cNvPr id="21" name="Text 8">
            <a:extLst>
              <a:ext uri="{FF2B5EF4-FFF2-40B4-BE49-F238E27FC236}">
                <a16:creationId xmlns:a16="http://schemas.microsoft.com/office/drawing/2014/main" id="{71200FA0-0F78-4443-ADE2-A3FFDC01F80F}"/>
              </a:ext>
            </a:extLst>
          </p:cNvPr>
          <p:cNvSpPr/>
          <p:nvPr/>
        </p:nvSpPr>
        <p:spPr>
          <a:xfrm>
            <a:off x="5989319" y="4470931"/>
            <a:ext cx="5595099" cy="355405"/>
          </a:xfrm>
          <a:prstGeom prst="rect">
            <a:avLst/>
          </a:prstGeom>
          <a:noFill/>
          <a:ln/>
        </p:spPr>
        <p:txBody>
          <a:bodyPr wrap="square" lIns="0" tIns="0" rIns="0" bIns="0" rtlCol="0" anchor="ctr"/>
          <a:lstStyle/>
          <a:p>
            <a:pPr marL="0" indent="0">
              <a:buNone/>
            </a:pPr>
            <a:r>
              <a:rPr lang="en-US" sz="1070" dirty="0" err="1">
                <a:solidFill>
                  <a:srgbClr val="94A3B8"/>
                </a:solidFill>
                <a:latin typeface="Arial" pitchFamily="34" charset="0"/>
                <a:ea typeface="Arial" pitchFamily="34" charset="-122"/>
                <a:cs typeface="Arial" pitchFamily="34" charset="-120"/>
              </a:rPr>
              <a:t>Clickup</a:t>
            </a:r>
            <a:r>
              <a:rPr lang="en-US" sz="1070" dirty="0">
                <a:solidFill>
                  <a:srgbClr val="94A3B8"/>
                </a:solidFill>
                <a:latin typeface="Arial" pitchFamily="34" charset="0"/>
                <a:ea typeface="Arial" pitchFamily="34" charset="-122"/>
                <a:cs typeface="Arial" pitchFamily="34" charset="-120"/>
              </a:rPr>
              <a:t> View: </a:t>
            </a:r>
            <a:r>
              <a:rPr lang="en-US" sz="800" dirty="0">
                <a:solidFill>
                  <a:srgbClr val="94A3B8"/>
                </a:solidFill>
                <a:latin typeface="Arial" pitchFamily="34" charset="0"/>
                <a:ea typeface="Arial" pitchFamily="34" charset="-122"/>
                <a:cs typeface="Arial" pitchFamily="34" charset="-120"/>
                <a:hlinkClick r:id="rId6"/>
              </a:rPr>
              <a:t>https://sharing.clickup.com/90121574829/l/h/4-90126898028-1/8ca5efa8ada001c  </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02920" y="320040"/>
            <a:ext cx="8412480" cy="384048"/>
          </a:xfrm>
          <a:prstGeom prst="rect">
            <a:avLst/>
          </a:prstGeom>
          <a:noFill/>
          <a:ln/>
        </p:spPr>
        <p:txBody>
          <a:bodyPr wrap="square" lIns="0" tIns="0" rIns="0" bIns="0" rtlCol="0" anchor="ctr"/>
          <a:lstStyle/>
          <a:p>
            <a:pPr marL="0" indent="0">
              <a:buNone/>
            </a:pPr>
            <a:r>
              <a:rPr lang="en-US" sz="2400" b="1" dirty="0">
                <a:solidFill>
                  <a:srgbClr val="F8FAFC"/>
                </a:solidFill>
                <a:latin typeface="Arial" pitchFamily="34" charset="0"/>
                <a:ea typeface="Arial" pitchFamily="34" charset="-122"/>
                <a:cs typeface="Arial" pitchFamily="34" charset="-120"/>
              </a:rPr>
              <a:t>Οδηγίες εκτέλεσης εφαρμογής</a:t>
            </a:r>
            <a:endParaRPr lang="en-US" sz="2400" dirty="0"/>
          </a:p>
        </p:txBody>
      </p:sp>
      <p:sp>
        <p:nvSpPr>
          <p:cNvPr id="3" name="Text 1"/>
          <p:cNvSpPr/>
          <p:nvPr/>
        </p:nvSpPr>
        <p:spPr>
          <a:xfrm>
            <a:off x="521208" y="749808"/>
            <a:ext cx="8046720" cy="219456"/>
          </a:xfrm>
          <a:prstGeom prst="rect">
            <a:avLst/>
          </a:prstGeom>
          <a:noFill/>
          <a:ln/>
        </p:spPr>
        <p:txBody>
          <a:bodyPr wrap="square" lIns="0" tIns="0" rIns="0" bIns="0" rtlCol="0" anchor="ctr"/>
          <a:lstStyle/>
          <a:p>
            <a:pPr marL="0" indent="0">
              <a:buNone/>
            </a:pPr>
            <a:r>
              <a:rPr lang="en-US" sz="1050" dirty="0">
                <a:solidFill>
                  <a:srgbClr val="94A3B8"/>
                </a:solidFill>
                <a:latin typeface="Arial" pitchFamily="34" charset="0"/>
                <a:ea typeface="Arial" pitchFamily="34" charset="-122"/>
                <a:cs typeface="Arial" pitchFamily="34" charset="-120"/>
              </a:rPr>
              <a:t>Πώς μπορεί ο </a:t>
            </a:r>
            <a:r>
              <a:rPr lang="en-US" sz="1050" dirty="0" err="1">
                <a:solidFill>
                  <a:srgbClr val="94A3B8"/>
                </a:solidFill>
                <a:latin typeface="Arial" pitchFamily="34" charset="0"/>
                <a:ea typeface="Arial" pitchFamily="34" charset="-122"/>
                <a:cs typeface="Arial" pitchFamily="34" charset="-120"/>
              </a:rPr>
              <a:t>χρήστης</a:t>
            </a:r>
            <a:r>
              <a:rPr lang="en-US" sz="1050" dirty="0">
                <a:solidFill>
                  <a:srgbClr val="94A3B8"/>
                </a:solidFill>
                <a:latin typeface="Arial" pitchFamily="34" charset="0"/>
                <a:ea typeface="Arial" pitchFamily="34" charset="-122"/>
                <a:cs typeface="Arial" pitchFamily="34" charset="-120"/>
              </a:rPr>
              <a:t> να α</a:t>
            </a:r>
            <a:r>
              <a:rPr lang="en-US" sz="1050" dirty="0" err="1">
                <a:solidFill>
                  <a:srgbClr val="94A3B8"/>
                </a:solidFill>
                <a:latin typeface="Arial" pitchFamily="34" charset="0"/>
                <a:ea typeface="Arial" pitchFamily="34" charset="-122"/>
                <a:cs typeface="Arial" pitchFamily="34" charset="-120"/>
              </a:rPr>
              <a:t>νοίξει</a:t>
            </a:r>
            <a:r>
              <a:rPr lang="en-US" sz="1050" dirty="0">
                <a:solidFill>
                  <a:srgbClr val="94A3B8"/>
                </a:solidFill>
                <a:latin typeface="Arial" pitchFamily="34" charset="0"/>
                <a:ea typeface="Arial" pitchFamily="34" charset="-122"/>
                <a:cs typeface="Arial" pitchFamily="34" charset="-120"/>
              </a:rPr>
              <a:t> την </a:t>
            </a:r>
            <a:r>
              <a:rPr lang="en-US" sz="1050" dirty="0" err="1">
                <a:solidFill>
                  <a:srgbClr val="94A3B8"/>
                </a:solidFill>
                <a:latin typeface="Arial" pitchFamily="34" charset="0"/>
                <a:ea typeface="Arial" pitchFamily="34" charset="-122"/>
                <a:cs typeface="Arial" pitchFamily="34" charset="-120"/>
              </a:rPr>
              <a:t>εφ</a:t>
            </a:r>
            <a:r>
              <a:rPr lang="en-US" sz="1050" dirty="0">
                <a:solidFill>
                  <a:srgbClr val="94A3B8"/>
                </a:solidFill>
                <a:latin typeface="Arial" pitchFamily="34" charset="0"/>
                <a:ea typeface="Arial" pitchFamily="34" charset="-122"/>
                <a:cs typeface="Arial" pitchFamily="34" charset="-120"/>
              </a:rPr>
              <a:t>αρμογή τοπικά</a:t>
            </a:r>
            <a:endParaRPr lang="en-US" sz="1050" dirty="0"/>
          </a:p>
        </p:txBody>
      </p:sp>
      <p:sp>
        <p:nvSpPr>
          <p:cNvPr id="4" name="Shape 2"/>
          <p:cNvSpPr/>
          <p:nvPr/>
        </p:nvSpPr>
        <p:spPr>
          <a:xfrm>
            <a:off x="502920" y="1078992"/>
            <a:ext cx="11201400" cy="0"/>
          </a:xfrm>
          <a:prstGeom prst="line">
            <a:avLst/>
          </a:prstGeom>
          <a:noFill/>
          <a:ln w="10160">
            <a:solidFill>
              <a:srgbClr val="334155"/>
            </a:solidFill>
            <a:prstDash val="solid"/>
          </a:ln>
        </p:spPr>
      </p:sp>
      <p:sp>
        <p:nvSpPr>
          <p:cNvPr id="5" name="Shape 3"/>
          <p:cNvSpPr/>
          <p:nvPr/>
        </p:nvSpPr>
        <p:spPr>
          <a:xfrm>
            <a:off x="502920" y="1078992"/>
            <a:ext cx="1234440" cy="0"/>
          </a:xfrm>
          <a:prstGeom prst="line">
            <a:avLst/>
          </a:prstGeom>
          <a:noFill/>
          <a:ln w="30480">
            <a:solidFill>
              <a:srgbClr val="3B82F6"/>
            </a:solidFill>
            <a:prstDash val="solid"/>
          </a:ln>
        </p:spPr>
      </p:sp>
      <p:sp>
        <p:nvSpPr>
          <p:cNvPr id="6" name="Text 4"/>
          <p:cNvSpPr/>
          <p:nvPr/>
        </p:nvSpPr>
        <p:spPr>
          <a:xfrm>
            <a:off x="502920" y="6473952"/>
            <a:ext cx="6400800" cy="164592"/>
          </a:xfrm>
          <a:prstGeom prst="rect">
            <a:avLst/>
          </a:prstGeom>
          <a:noFill/>
          <a:ln/>
        </p:spPr>
        <p:txBody>
          <a:bodyPr wrap="square" lIns="0" tIns="0" rIns="0" bIns="0" rtlCol="0" anchor="ctr"/>
          <a:lstStyle/>
          <a:p>
            <a:pPr marL="0" indent="0">
              <a:buNone/>
            </a:pPr>
            <a:r>
              <a:rPr lang="en-US" sz="750" dirty="0">
                <a:solidFill>
                  <a:srgbClr val="94A3B8"/>
                </a:solidFill>
                <a:latin typeface="Arial" pitchFamily="34" charset="0"/>
                <a:ea typeface="Arial" pitchFamily="34" charset="-122"/>
                <a:cs typeface="Arial" pitchFamily="34" charset="-120"/>
              </a:rPr>
              <a:t>ΠΛΗΠΡΟ - Project 06 | Personal Finance Manager</a:t>
            </a:r>
            <a:endParaRPr lang="en-US" sz="750" dirty="0"/>
          </a:p>
        </p:txBody>
      </p:sp>
      <p:sp>
        <p:nvSpPr>
          <p:cNvPr id="7" name="Text 5"/>
          <p:cNvSpPr/>
          <p:nvPr/>
        </p:nvSpPr>
        <p:spPr>
          <a:xfrm>
            <a:off x="11292840" y="6428232"/>
            <a:ext cx="347472" cy="228600"/>
          </a:xfrm>
          <a:prstGeom prst="rect">
            <a:avLst/>
          </a:prstGeom>
          <a:noFill/>
          <a:ln/>
        </p:spPr>
        <p:txBody>
          <a:bodyPr wrap="square" lIns="0" tIns="0" rIns="0" bIns="0" rtlCol="0" anchor="ctr"/>
          <a:lstStyle/>
          <a:p>
            <a:pPr marL="0" indent="0" algn="ctr">
              <a:buNone/>
            </a:pPr>
            <a:r>
              <a:rPr lang="en-US" sz="850" b="1" dirty="0">
                <a:solidFill>
                  <a:srgbClr val="60A5FA"/>
                </a:solidFill>
                <a:latin typeface="Arial" pitchFamily="34" charset="0"/>
                <a:ea typeface="Arial" pitchFamily="34" charset="-122"/>
                <a:cs typeface="Arial" pitchFamily="34" charset="-120"/>
              </a:rPr>
              <a:t>12</a:t>
            </a:r>
            <a:endParaRPr lang="en-US" sz="850" dirty="0"/>
          </a:p>
        </p:txBody>
      </p:sp>
      <p:sp>
        <p:nvSpPr>
          <p:cNvPr id="8" name="Text 6"/>
          <p:cNvSpPr/>
          <p:nvPr/>
        </p:nvSpPr>
        <p:spPr>
          <a:xfrm>
            <a:off x="685800" y="1353312"/>
            <a:ext cx="5029200" cy="292608"/>
          </a:xfrm>
          <a:prstGeom prst="rect">
            <a:avLst/>
          </a:prstGeom>
          <a:noFill/>
          <a:ln/>
        </p:spPr>
        <p:txBody>
          <a:bodyPr wrap="square" lIns="0" tIns="0" rIns="0" bIns="0" rtlCol="0" anchor="ctr"/>
          <a:lstStyle/>
          <a:p>
            <a:pPr marL="0" indent="0">
              <a:buNone/>
            </a:pPr>
            <a:r>
              <a:rPr lang="en-US" sz="1600" b="1" dirty="0">
                <a:solidFill>
                  <a:srgbClr val="60A5FA"/>
                </a:solidFill>
                <a:latin typeface="Arial" pitchFamily="34" charset="0"/>
                <a:ea typeface="Arial" pitchFamily="34" charset="-122"/>
                <a:cs typeface="Arial" pitchFamily="34" charset="-120"/>
              </a:rPr>
              <a:t>Βήματα εκτέλεσης</a:t>
            </a:r>
            <a:endParaRPr lang="en-US" sz="1600" dirty="0"/>
          </a:p>
        </p:txBody>
      </p:sp>
      <p:sp>
        <p:nvSpPr>
          <p:cNvPr id="9" name="Text 7"/>
          <p:cNvSpPr/>
          <p:nvPr/>
        </p:nvSpPr>
        <p:spPr>
          <a:xfrm>
            <a:off x="713232" y="1783080"/>
            <a:ext cx="5257800" cy="1051560"/>
          </a:xfrm>
          <a:prstGeom prst="rect">
            <a:avLst/>
          </a:prstGeom>
          <a:noFill/>
          <a:ln/>
        </p:spPr>
        <p:txBody>
          <a:bodyPr wrap="square" lIns="254" tIns="254" rIns="254" bIns="254" rtlCol="0" anchor="ctr">
            <a:normAutofit/>
          </a:bodyPr>
          <a:lstStyle/>
          <a:p>
            <a:pPr marL="0" indent="0">
              <a:buNone/>
            </a:pPr>
            <a:r>
              <a:rPr lang="en-US" sz="1260" dirty="0">
                <a:solidFill>
                  <a:srgbClr val="E5E7EB"/>
                </a:solidFill>
                <a:latin typeface="Arial" pitchFamily="34" charset="0"/>
                <a:ea typeface="Arial" pitchFamily="34" charset="-122"/>
                <a:cs typeface="Arial" pitchFamily="34" charset="-120"/>
              </a:rPr>
              <a:t>1. Κατεβάζουμε ή αποσυμπιέζουμε τον φάκελο του project</a:t>
            </a:r>
            <a:r>
              <a:rPr lang="el-GR" sz="1260" dirty="0">
                <a:solidFill>
                  <a:srgbClr val="E5E7EB"/>
                </a:solidFill>
                <a:latin typeface="Arial" pitchFamily="34" charset="0"/>
                <a:ea typeface="Arial" pitchFamily="34" charset="-122"/>
                <a:cs typeface="Arial" pitchFamily="34" charset="-120"/>
              </a:rPr>
              <a:t> (.</a:t>
            </a:r>
            <a:r>
              <a:rPr lang="en-US" sz="1260" dirty="0">
                <a:solidFill>
                  <a:srgbClr val="E5E7EB"/>
                </a:solidFill>
                <a:latin typeface="Arial" pitchFamily="34" charset="0"/>
                <a:ea typeface="Arial" pitchFamily="34" charset="-122"/>
                <a:cs typeface="Arial" pitchFamily="34" charset="-120"/>
              </a:rPr>
              <a:t>zip</a:t>
            </a:r>
            <a:r>
              <a:rPr lang="el-GR" sz="1260" dirty="0">
                <a:solidFill>
                  <a:srgbClr val="E5E7EB"/>
                </a:solidFill>
                <a:latin typeface="Arial" pitchFamily="34" charset="0"/>
                <a:ea typeface="Arial" pitchFamily="34" charset="-122"/>
                <a:cs typeface="Arial" pitchFamily="34" charset="-120"/>
              </a:rPr>
              <a:t>)</a:t>
            </a:r>
            <a:r>
              <a:rPr lang="en-US" sz="1260" dirty="0">
                <a:solidFill>
                  <a:srgbClr val="E5E7EB"/>
                </a:solidFill>
                <a:latin typeface="Arial" pitchFamily="34" charset="0"/>
                <a:ea typeface="Arial" pitchFamily="34" charset="-122"/>
                <a:cs typeface="Arial" pitchFamily="34" charset="-120"/>
              </a:rPr>
              <a:t>.</a:t>
            </a:r>
            <a:endParaRPr lang="en-US" sz="1260" dirty="0"/>
          </a:p>
          <a:p>
            <a:pPr marL="0" indent="0">
              <a:buNone/>
            </a:pPr>
            <a:r>
              <a:rPr lang="en-US" sz="1260" dirty="0">
                <a:solidFill>
                  <a:srgbClr val="E5E7EB"/>
                </a:solidFill>
                <a:latin typeface="Arial" pitchFamily="34" charset="0"/>
                <a:ea typeface="Arial" pitchFamily="34" charset="-122"/>
                <a:cs typeface="Arial" pitchFamily="34" charset="-120"/>
              </a:rPr>
              <a:t>2. Ανοίγουμε terminal στον κεντρικό φάκελο, εκεί που υπάρχουν main.py και requirements.txt.</a:t>
            </a:r>
            <a:endParaRPr lang="en-US" sz="1260" dirty="0"/>
          </a:p>
          <a:p>
            <a:pPr marL="0" indent="0">
              <a:buNone/>
            </a:pPr>
            <a:r>
              <a:rPr lang="en-US" sz="1260" dirty="0">
                <a:solidFill>
                  <a:srgbClr val="E5E7EB"/>
                </a:solidFill>
                <a:latin typeface="Arial" pitchFamily="34" charset="0"/>
                <a:ea typeface="Arial" pitchFamily="34" charset="-122"/>
                <a:cs typeface="Arial" pitchFamily="34" charset="-120"/>
              </a:rPr>
              <a:t>3. Εγκαθιστούμε τις βιβλιοθήκες με την εντολή:</a:t>
            </a:r>
            <a:endParaRPr lang="en-US" sz="1260" dirty="0"/>
          </a:p>
        </p:txBody>
      </p:sp>
      <p:sp>
        <p:nvSpPr>
          <p:cNvPr id="10" name="Shape 8"/>
          <p:cNvSpPr/>
          <p:nvPr/>
        </p:nvSpPr>
        <p:spPr>
          <a:xfrm>
            <a:off x="713232" y="2999232"/>
            <a:ext cx="4892040" cy="384048"/>
          </a:xfrm>
          <a:prstGeom prst="roundRect">
            <a:avLst>
              <a:gd name="adj" fmla="val 14286"/>
            </a:avLst>
          </a:prstGeom>
          <a:solidFill>
            <a:srgbClr val="111827"/>
          </a:solidFill>
          <a:ln w="6350">
            <a:solidFill>
              <a:srgbClr val="334155"/>
            </a:solidFill>
            <a:prstDash val="solid"/>
          </a:ln>
        </p:spPr>
      </p:sp>
      <p:sp>
        <p:nvSpPr>
          <p:cNvPr id="11" name="Text 9"/>
          <p:cNvSpPr/>
          <p:nvPr/>
        </p:nvSpPr>
        <p:spPr>
          <a:xfrm>
            <a:off x="896112" y="3099816"/>
            <a:ext cx="4526280" cy="182880"/>
          </a:xfrm>
          <a:prstGeom prst="rect">
            <a:avLst/>
          </a:prstGeom>
          <a:noFill/>
          <a:ln/>
        </p:spPr>
        <p:txBody>
          <a:bodyPr wrap="square" lIns="0" tIns="0" rIns="0" bIns="0" rtlCol="0" anchor="ctr">
            <a:normAutofit lnSpcReduction="10000"/>
          </a:bodyPr>
          <a:lstStyle/>
          <a:p>
            <a:pPr marL="0" indent="0">
              <a:buNone/>
            </a:pPr>
            <a:r>
              <a:rPr lang="en-US" sz="1230" dirty="0">
                <a:solidFill>
                  <a:srgbClr val="F8FAFC"/>
                </a:solidFill>
                <a:latin typeface="Courier New" pitchFamily="34" charset="0"/>
                <a:ea typeface="Courier New" pitchFamily="34" charset="-122"/>
                <a:cs typeface="Courier New" pitchFamily="34" charset="-120"/>
              </a:rPr>
              <a:t>pip install -r requirements.txt</a:t>
            </a:r>
            <a:endParaRPr lang="en-US" sz="1230" dirty="0"/>
          </a:p>
        </p:txBody>
      </p:sp>
      <p:sp>
        <p:nvSpPr>
          <p:cNvPr id="12" name="Text 10"/>
          <p:cNvSpPr/>
          <p:nvPr/>
        </p:nvSpPr>
        <p:spPr>
          <a:xfrm>
            <a:off x="713232" y="3730752"/>
            <a:ext cx="5074920" cy="237744"/>
          </a:xfrm>
          <a:prstGeom prst="rect">
            <a:avLst/>
          </a:prstGeom>
          <a:noFill/>
          <a:ln/>
        </p:spPr>
        <p:txBody>
          <a:bodyPr wrap="square" lIns="0" tIns="0" rIns="0" bIns="0" rtlCol="0" anchor="ctr"/>
          <a:lstStyle/>
          <a:p>
            <a:pPr marL="0" indent="0">
              <a:buNone/>
            </a:pPr>
            <a:r>
              <a:rPr lang="en-US" sz="1260" dirty="0">
                <a:solidFill>
                  <a:srgbClr val="E5E7EB"/>
                </a:solidFill>
                <a:latin typeface="Arial" pitchFamily="34" charset="0"/>
                <a:ea typeface="Arial" pitchFamily="34" charset="-122"/>
                <a:cs typeface="Arial" pitchFamily="34" charset="-120"/>
              </a:rPr>
              <a:t>4. Ξεκινάμε την εφαρμογή:</a:t>
            </a:r>
            <a:endParaRPr lang="en-US" sz="1260" dirty="0"/>
          </a:p>
        </p:txBody>
      </p:sp>
      <p:sp>
        <p:nvSpPr>
          <p:cNvPr id="13" name="Shape 11"/>
          <p:cNvSpPr/>
          <p:nvPr/>
        </p:nvSpPr>
        <p:spPr>
          <a:xfrm>
            <a:off x="713232" y="4160520"/>
            <a:ext cx="4892040" cy="384048"/>
          </a:xfrm>
          <a:prstGeom prst="roundRect">
            <a:avLst>
              <a:gd name="adj" fmla="val 14286"/>
            </a:avLst>
          </a:prstGeom>
          <a:solidFill>
            <a:srgbClr val="111827"/>
          </a:solidFill>
          <a:ln w="6350">
            <a:solidFill>
              <a:srgbClr val="334155"/>
            </a:solidFill>
            <a:prstDash val="solid"/>
          </a:ln>
        </p:spPr>
      </p:sp>
      <p:sp>
        <p:nvSpPr>
          <p:cNvPr id="14" name="Text 12"/>
          <p:cNvSpPr/>
          <p:nvPr/>
        </p:nvSpPr>
        <p:spPr>
          <a:xfrm>
            <a:off x="896112" y="4261104"/>
            <a:ext cx="4526280" cy="182880"/>
          </a:xfrm>
          <a:prstGeom prst="rect">
            <a:avLst/>
          </a:prstGeom>
          <a:noFill/>
          <a:ln/>
        </p:spPr>
        <p:txBody>
          <a:bodyPr wrap="square" lIns="0" tIns="0" rIns="0" bIns="0" rtlCol="0" anchor="ctr">
            <a:normAutofit lnSpcReduction="10000"/>
          </a:bodyPr>
          <a:lstStyle/>
          <a:p>
            <a:pPr marL="0" indent="0">
              <a:buNone/>
            </a:pPr>
            <a:r>
              <a:rPr lang="en-US" sz="1230" dirty="0">
                <a:solidFill>
                  <a:srgbClr val="F8FAFC"/>
                </a:solidFill>
                <a:latin typeface="Courier New" pitchFamily="34" charset="0"/>
                <a:ea typeface="Courier New" pitchFamily="34" charset="-122"/>
                <a:cs typeface="Courier New" pitchFamily="34" charset="-120"/>
              </a:rPr>
              <a:t>python main.py</a:t>
            </a:r>
            <a:endParaRPr lang="en-US" sz="1230" dirty="0"/>
          </a:p>
        </p:txBody>
      </p:sp>
      <p:sp>
        <p:nvSpPr>
          <p:cNvPr id="15" name="Text 13"/>
          <p:cNvSpPr/>
          <p:nvPr/>
        </p:nvSpPr>
        <p:spPr>
          <a:xfrm>
            <a:off x="685800" y="4983480"/>
            <a:ext cx="5029200" cy="256032"/>
          </a:xfrm>
          <a:prstGeom prst="rect">
            <a:avLst/>
          </a:prstGeom>
          <a:noFill/>
          <a:ln/>
        </p:spPr>
        <p:txBody>
          <a:bodyPr wrap="square" lIns="0" tIns="0" rIns="0" bIns="0" rtlCol="0" anchor="ctr"/>
          <a:lstStyle/>
          <a:p>
            <a:pPr marL="0" indent="0">
              <a:buNone/>
            </a:pPr>
            <a:r>
              <a:rPr lang="en-US" sz="1360" b="1" dirty="0">
                <a:solidFill>
                  <a:srgbClr val="22C55E"/>
                </a:solidFill>
                <a:latin typeface="Arial" pitchFamily="34" charset="0"/>
                <a:ea typeface="Arial" pitchFamily="34" charset="-122"/>
                <a:cs typeface="Arial" pitchFamily="34" charset="-120"/>
              </a:rPr>
              <a:t>Προαιρετικά για demo δεδομένα</a:t>
            </a:r>
            <a:endParaRPr lang="en-US" sz="1360" dirty="0"/>
          </a:p>
        </p:txBody>
      </p:sp>
      <p:sp>
        <p:nvSpPr>
          <p:cNvPr id="16" name="Text 14"/>
          <p:cNvSpPr/>
          <p:nvPr/>
        </p:nvSpPr>
        <p:spPr>
          <a:xfrm>
            <a:off x="713232" y="5330952"/>
            <a:ext cx="5166360" cy="365760"/>
          </a:xfrm>
          <a:prstGeom prst="rect">
            <a:avLst/>
          </a:prstGeom>
          <a:noFill/>
          <a:ln/>
        </p:spPr>
        <p:txBody>
          <a:bodyPr wrap="square" lIns="0" tIns="0" rIns="0" bIns="0" rtlCol="0" anchor="ctr">
            <a:normAutofit/>
          </a:bodyPr>
          <a:lstStyle/>
          <a:p>
            <a:pPr marL="0" indent="0">
              <a:buNone/>
            </a:pPr>
            <a:r>
              <a:rPr lang="en-US" sz="1150" dirty="0">
                <a:solidFill>
                  <a:srgbClr val="CBD5E1"/>
                </a:solidFill>
                <a:latin typeface="Arial" pitchFamily="34" charset="0"/>
                <a:ea typeface="Arial" pitchFamily="34" charset="-122"/>
                <a:cs typeface="Arial" pitchFamily="34" charset="-120"/>
              </a:rPr>
              <a:t>Το demo_data.py εισάγει ενδεικτικές κατηγορίες, συναλλαγές και recurring εγγραφές για γρήγορη παρουσίαση.</a:t>
            </a:r>
            <a:endParaRPr lang="en-US" sz="1150" dirty="0"/>
          </a:p>
        </p:txBody>
      </p:sp>
      <p:sp>
        <p:nvSpPr>
          <p:cNvPr id="17" name="Shape 15"/>
          <p:cNvSpPr/>
          <p:nvPr/>
        </p:nvSpPr>
        <p:spPr>
          <a:xfrm>
            <a:off x="713232" y="5833872"/>
            <a:ext cx="4892040" cy="347472"/>
          </a:xfrm>
          <a:prstGeom prst="roundRect">
            <a:avLst>
              <a:gd name="adj" fmla="val 15789"/>
            </a:avLst>
          </a:prstGeom>
          <a:solidFill>
            <a:srgbClr val="111827"/>
          </a:solidFill>
          <a:ln w="6350">
            <a:solidFill>
              <a:srgbClr val="334155"/>
            </a:solidFill>
            <a:prstDash val="solid"/>
          </a:ln>
        </p:spPr>
      </p:sp>
      <p:sp>
        <p:nvSpPr>
          <p:cNvPr id="18" name="Text 16"/>
          <p:cNvSpPr/>
          <p:nvPr/>
        </p:nvSpPr>
        <p:spPr>
          <a:xfrm>
            <a:off x="896112" y="5925312"/>
            <a:ext cx="4526280" cy="164592"/>
          </a:xfrm>
          <a:prstGeom prst="rect">
            <a:avLst/>
          </a:prstGeom>
          <a:noFill/>
          <a:ln/>
        </p:spPr>
        <p:txBody>
          <a:bodyPr wrap="square" lIns="0" tIns="0" rIns="0" bIns="0" rtlCol="0" anchor="ctr">
            <a:normAutofit fontScale="92500" lnSpcReduction="10000"/>
          </a:bodyPr>
          <a:lstStyle/>
          <a:p>
            <a:pPr marL="0" indent="0">
              <a:buNone/>
            </a:pPr>
            <a:r>
              <a:rPr lang="en-US" sz="1180" dirty="0">
                <a:solidFill>
                  <a:srgbClr val="F8FAFC"/>
                </a:solidFill>
                <a:latin typeface="Courier New" pitchFamily="34" charset="0"/>
                <a:ea typeface="Courier New" pitchFamily="34" charset="-122"/>
                <a:cs typeface="Courier New" pitchFamily="34" charset="-120"/>
              </a:rPr>
              <a:t>python demo_data.py</a:t>
            </a:r>
            <a:endParaRPr lang="en-US" sz="1180" dirty="0"/>
          </a:p>
        </p:txBody>
      </p:sp>
      <p:pic>
        <p:nvPicPr>
          <p:cNvPr id="19" name="Image 0" descr="/mnt/data/S03_new_transaction_form.png"/>
          <p:cNvPicPr>
            <a:picLocks noChangeAspect="1"/>
          </p:cNvPicPr>
          <p:nvPr/>
        </p:nvPicPr>
        <p:blipFill>
          <a:blip r:embed="rId3"/>
          <a:stretch>
            <a:fillRect/>
          </a:stretch>
        </p:blipFill>
        <p:spPr>
          <a:xfrm>
            <a:off x="6879117" y="1325880"/>
            <a:ext cx="3981126" cy="2423160"/>
          </a:xfrm>
          <a:prstGeom prst="rect">
            <a:avLst/>
          </a:prstGeom>
        </p:spPr>
      </p:pic>
      <p:sp>
        <p:nvSpPr>
          <p:cNvPr id="20" name="Shape 17"/>
          <p:cNvSpPr/>
          <p:nvPr/>
        </p:nvSpPr>
        <p:spPr>
          <a:xfrm>
            <a:off x="6446520" y="1325880"/>
            <a:ext cx="4846320" cy="2423160"/>
          </a:xfrm>
          <a:prstGeom prst="rect">
            <a:avLst/>
          </a:prstGeom>
          <a:solidFill>
            <a:srgbClr val="FFFFFF">
              <a:alpha val="0"/>
            </a:srgbClr>
          </a:solidFill>
          <a:ln w="7620">
            <a:solidFill>
              <a:srgbClr val="334155"/>
            </a:solidFill>
            <a:prstDash val="solid"/>
          </a:ln>
        </p:spPr>
      </p:sp>
      <p:pic>
        <p:nvPicPr>
          <p:cNvPr id="21" name="Image 1" descr="/mnt/data/S05_recurring_screen.png"/>
          <p:cNvPicPr>
            <a:picLocks noChangeAspect="1"/>
          </p:cNvPicPr>
          <p:nvPr/>
        </p:nvPicPr>
        <p:blipFill>
          <a:blip r:embed="rId4"/>
          <a:stretch>
            <a:fillRect/>
          </a:stretch>
        </p:blipFill>
        <p:spPr>
          <a:xfrm>
            <a:off x="7745960" y="3977640"/>
            <a:ext cx="2247440" cy="1691640"/>
          </a:xfrm>
          <a:prstGeom prst="rect">
            <a:avLst/>
          </a:prstGeom>
        </p:spPr>
      </p:pic>
      <p:sp>
        <p:nvSpPr>
          <p:cNvPr id="22" name="Shape 18"/>
          <p:cNvSpPr/>
          <p:nvPr/>
        </p:nvSpPr>
        <p:spPr>
          <a:xfrm>
            <a:off x="6446520" y="3977640"/>
            <a:ext cx="4846320" cy="1691640"/>
          </a:xfrm>
          <a:prstGeom prst="rect">
            <a:avLst/>
          </a:prstGeom>
          <a:solidFill>
            <a:srgbClr val="FFFFFF">
              <a:alpha val="0"/>
            </a:srgbClr>
          </a:solidFill>
          <a:ln w="7620">
            <a:solidFill>
              <a:srgbClr val="334155"/>
            </a:solidFill>
            <a:prstDash val="solid"/>
          </a:ln>
        </p:spPr>
      </p:sp>
      <p:sp>
        <p:nvSpPr>
          <p:cNvPr id="23" name="Text 19"/>
          <p:cNvSpPr/>
          <p:nvPr/>
        </p:nvSpPr>
        <p:spPr>
          <a:xfrm>
            <a:off x="6446520" y="5870448"/>
            <a:ext cx="4846320" cy="320040"/>
          </a:xfrm>
          <a:prstGeom prst="rect">
            <a:avLst/>
          </a:prstGeom>
          <a:noFill/>
          <a:ln/>
        </p:spPr>
        <p:txBody>
          <a:bodyPr wrap="square" lIns="0" tIns="0" rIns="0" bIns="0" rtlCol="0" anchor="ctr">
            <a:normAutofit lnSpcReduction="10000"/>
          </a:bodyPr>
          <a:lstStyle/>
          <a:p>
            <a:pPr marL="0" indent="0" algn="ctr">
              <a:buNone/>
            </a:pPr>
            <a:r>
              <a:rPr lang="en-US" sz="1150" dirty="0">
                <a:solidFill>
                  <a:srgbClr val="CBD5E1"/>
                </a:solidFill>
                <a:latin typeface="Arial" pitchFamily="34" charset="0"/>
                <a:ea typeface="Arial" pitchFamily="34" charset="-122"/>
                <a:cs typeface="Arial" pitchFamily="34" charset="-120"/>
              </a:rPr>
              <a:t>Κατά την πρώτη εκτέλεση δημιουργείται αυτόματα η SQLite βάση finance.db, αν δεν υπάρχει ήδη.</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02920" y="320040"/>
            <a:ext cx="8412480" cy="384048"/>
          </a:xfrm>
          <a:prstGeom prst="rect">
            <a:avLst/>
          </a:prstGeom>
          <a:noFill/>
          <a:ln/>
        </p:spPr>
        <p:txBody>
          <a:bodyPr wrap="square" lIns="0" tIns="0" rIns="0" bIns="0" rtlCol="0" anchor="ctr"/>
          <a:lstStyle/>
          <a:p>
            <a:pPr marL="0" indent="0">
              <a:buNone/>
            </a:pPr>
            <a:r>
              <a:rPr lang="en-US" sz="2400" b="1" dirty="0">
                <a:solidFill>
                  <a:srgbClr val="F8FAFC"/>
                </a:solidFill>
                <a:latin typeface="Arial" pitchFamily="34" charset="0"/>
                <a:ea typeface="Arial" pitchFamily="34" charset="-122"/>
                <a:cs typeface="Arial" pitchFamily="34" charset="-120"/>
              </a:rPr>
              <a:t>Δυσκολίες, λύσεις και συμπεράσματα</a:t>
            </a:r>
            <a:endParaRPr lang="en-US" sz="2400" dirty="0"/>
          </a:p>
        </p:txBody>
      </p:sp>
      <p:sp>
        <p:nvSpPr>
          <p:cNvPr id="4" name="Shape 2"/>
          <p:cNvSpPr/>
          <p:nvPr/>
        </p:nvSpPr>
        <p:spPr>
          <a:xfrm>
            <a:off x="502920" y="1078992"/>
            <a:ext cx="11201400" cy="0"/>
          </a:xfrm>
          <a:prstGeom prst="line">
            <a:avLst/>
          </a:prstGeom>
          <a:noFill/>
          <a:ln w="10160">
            <a:solidFill>
              <a:srgbClr val="334155"/>
            </a:solidFill>
            <a:prstDash val="solid"/>
          </a:ln>
        </p:spPr>
      </p:sp>
      <p:sp>
        <p:nvSpPr>
          <p:cNvPr id="5" name="Shape 3"/>
          <p:cNvSpPr/>
          <p:nvPr/>
        </p:nvSpPr>
        <p:spPr>
          <a:xfrm>
            <a:off x="502920" y="1078992"/>
            <a:ext cx="1234440" cy="0"/>
          </a:xfrm>
          <a:prstGeom prst="line">
            <a:avLst/>
          </a:prstGeom>
          <a:noFill/>
          <a:ln w="30480">
            <a:solidFill>
              <a:srgbClr val="3B82F6"/>
            </a:solidFill>
            <a:prstDash val="solid"/>
          </a:ln>
        </p:spPr>
      </p:sp>
      <p:sp>
        <p:nvSpPr>
          <p:cNvPr id="6" name="Text 4"/>
          <p:cNvSpPr/>
          <p:nvPr/>
        </p:nvSpPr>
        <p:spPr>
          <a:xfrm>
            <a:off x="502920" y="6473952"/>
            <a:ext cx="6400800" cy="164592"/>
          </a:xfrm>
          <a:prstGeom prst="rect">
            <a:avLst/>
          </a:prstGeom>
          <a:noFill/>
          <a:ln/>
        </p:spPr>
        <p:txBody>
          <a:bodyPr wrap="square" lIns="0" tIns="0" rIns="0" bIns="0" rtlCol="0" anchor="ctr"/>
          <a:lstStyle/>
          <a:p>
            <a:pPr marL="0" indent="0">
              <a:buNone/>
            </a:pPr>
            <a:r>
              <a:rPr lang="en-US" sz="750" dirty="0">
                <a:solidFill>
                  <a:srgbClr val="94A3B8"/>
                </a:solidFill>
                <a:latin typeface="Arial" pitchFamily="34" charset="0"/>
                <a:ea typeface="Arial" pitchFamily="34" charset="-122"/>
                <a:cs typeface="Arial" pitchFamily="34" charset="-120"/>
              </a:rPr>
              <a:t>ΠΛΗΠΡΟ - Project 06 | Personal Finance Manager</a:t>
            </a:r>
            <a:endParaRPr lang="en-US" sz="750" dirty="0"/>
          </a:p>
        </p:txBody>
      </p:sp>
      <p:sp>
        <p:nvSpPr>
          <p:cNvPr id="7" name="Text 5"/>
          <p:cNvSpPr/>
          <p:nvPr/>
        </p:nvSpPr>
        <p:spPr>
          <a:xfrm>
            <a:off x="11292840" y="6428232"/>
            <a:ext cx="347472" cy="228600"/>
          </a:xfrm>
          <a:prstGeom prst="rect">
            <a:avLst/>
          </a:prstGeom>
          <a:noFill/>
          <a:ln/>
        </p:spPr>
        <p:txBody>
          <a:bodyPr wrap="square" lIns="0" tIns="0" rIns="0" bIns="0" rtlCol="0" anchor="ctr"/>
          <a:lstStyle/>
          <a:p>
            <a:pPr marL="0" indent="0" algn="ctr">
              <a:buNone/>
            </a:pPr>
            <a:r>
              <a:rPr lang="en-US" sz="850" b="1" dirty="0">
                <a:solidFill>
                  <a:srgbClr val="60A5FA"/>
                </a:solidFill>
                <a:latin typeface="Arial" pitchFamily="34" charset="0"/>
                <a:ea typeface="Arial" pitchFamily="34" charset="-122"/>
                <a:cs typeface="Arial" pitchFamily="34" charset="-120"/>
              </a:rPr>
              <a:t>13</a:t>
            </a:r>
            <a:endParaRPr lang="en-US" sz="850" dirty="0"/>
          </a:p>
        </p:txBody>
      </p:sp>
      <p:sp>
        <p:nvSpPr>
          <p:cNvPr id="8" name="Text 6"/>
          <p:cNvSpPr/>
          <p:nvPr/>
        </p:nvSpPr>
        <p:spPr>
          <a:xfrm>
            <a:off x="685800" y="1417320"/>
            <a:ext cx="5303520" cy="2834640"/>
          </a:xfrm>
          <a:prstGeom prst="rect">
            <a:avLst/>
          </a:prstGeom>
          <a:noFill/>
          <a:ln/>
        </p:spPr>
        <p:txBody>
          <a:bodyPr wrap="square" lIns="635" tIns="635" rIns="635" bIns="635" rtlCol="0" anchor="t">
            <a:normAutofit/>
          </a:bodyPr>
          <a:lstStyle/>
          <a:p>
            <a:pPr marL="0" indent="0">
              <a:buNone/>
            </a:pPr>
            <a:r>
              <a:rPr lang="en-US" sz="1600" b="1" u="sng" dirty="0" err="1">
                <a:solidFill>
                  <a:srgbClr val="60A5FA"/>
                </a:solidFill>
                <a:latin typeface="Arial" pitchFamily="34" charset="0"/>
                <a:ea typeface="Arial" pitchFamily="34" charset="-122"/>
                <a:cs typeface="Arial" pitchFamily="34" charset="-120"/>
              </a:rPr>
              <a:t>Κύριες</a:t>
            </a:r>
            <a:r>
              <a:rPr lang="en-US" sz="1600" b="1" u="sng" dirty="0">
                <a:solidFill>
                  <a:srgbClr val="60A5FA"/>
                </a:solidFill>
                <a:latin typeface="Arial" pitchFamily="34" charset="0"/>
                <a:ea typeface="Arial" pitchFamily="34" charset="-122"/>
                <a:cs typeface="Arial" pitchFamily="34" charset="-120"/>
              </a:rPr>
              <a:t> </a:t>
            </a:r>
            <a:r>
              <a:rPr lang="en-US" sz="1600" b="1" u="sng" dirty="0" err="1">
                <a:solidFill>
                  <a:srgbClr val="60A5FA"/>
                </a:solidFill>
                <a:latin typeface="Arial" pitchFamily="34" charset="0"/>
                <a:ea typeface="Arial" pitchFamily="34" charset="-122"/>
                <a:cs typeface="Arial" pitchFamily="34" charset="-120"/>
              </a:rPr>
              <a:t>δυσκολίες</a:t>
            </a:r>
            <a:endParaRPr lang="en-US" sz="1600" b="1" u="sng" dirty="0">
              <a:solidFill>
                <a:srgbClr val="60A5FA"/>
              </a:solidFill>
              <a:latin typeface="Arial" pitchFamily="34" charset="0"/>
              <a:ea typeface="Arial" pitchFamily="34" charset="-122"/>
              <a:cs typeface="Arial" pitchFamily="34" charset="-120"/>
            </a:endParaRPr>
          </a:p>
          <a:p>
            <a:pPr marL="0" indent="0">
              <a:buNone/>
            </a:pPr>
            <a:endParaRPr lang="en-US" sz="1340" u="sng" dirty="0"/>
          </a:p>
          <a:p>
            <a:pPr marL="285750" indent="-285750">
              <a:buFont typeface="Wingdings" panose="05000000000000000000" pitchFamily="2" charset="2"/>
              <a:buChar char="q"/>
            </a:pPr>
            <a:r>
              <a:rPr lang="en-US" sz="1340" dirty="0">
                <a:solidFill>
                  <a:srgbClr val="E5E7EB"/>
                </a:solidFill>
                <a:latin typeface="Arial" pitchFamily="34" charset="0"/>
                <a:ea typeface="Arial" pitchFamily="34" charset="-122"/>
                <a:cs typeface="Arial" pitchFamily="34" charset="-120"/>
              </a:rPr>
              <a:t>DateEntry / calendar popup: λύθηκε με custom Calendar σε Toplevel.</a:t>
            </a:r>
            <a:endParaRPr lang="en-US" sz="1340" dirty="0"/>
          </a:p>
          <a:p>
            <a:pPr marL="285750" indent="-285750">
              <a:buFont typeface="Wingdings" panose="05000000000000000000" pitchFamily="2" charset="2"/>
              <a:buChar char="q"/>
            </a:pPr>
            <a:r>
              <a:rPr lang="en-US" sz="1340" dirty="0">
                <a:solidFill>
                  <a:srgbClr val="E5E7EB"/>
                </a:solidFill>
                <a:latin typeface="Arial" pitchFamily="34" charset="0"/>
                <a:ea typeface="Arial" pitchFamily="34" charset="-122"/>
                <a:cs typeface="Arial" pitchFamily="34" charset="-120"/>
              </a:rPr>
              <a:t>SQLite database is locked: ασφαλές try / rollback / finally close.</a:t>
            </a:r>
            <a:endParaRPr lang="en-US" sz="1340" dirty="0"/>
          </a:p>
          <a:p>
            <a:pPr marL="285750" indent="-285750">
              <a:buFont typeface="Wingdings" panose="05000000000000000000" pitchFamily="2" charset="2"/>
              <a:buChar char="q"/>
            </a:pPr>
            <a:r>
              <a:rPr lang="en-US" sz="1340" dirty="0">
                <a:solidFill>
                  <a:srgbClr val="E5E7EB"/>
                </a:solidFill>
                <a:latin typeface="Arial" pitchFamily="34" charset="0"/>
                <a:ea typeface="Arial" pitchFamily="34" charset="-122"/>
                <a:cs typeface="Arial" pitchFamily="34" charset="-120"/>
              </a:rPr>
              <a:t>Ελληνικά σε PDF: χρήση Unicode γραμματοσειράς.</a:t>
            </a:r>
            <a:endParaRPr lang="en-US" sz="1340" dirty="0"/>
          </a:p>
          <a:p>
            <a:pPr marL="285750" indent="-285750">
              <a:buFont typeface="Wingdings" panose="05000000000000000000" pitchFamily="2" charset="2"/>
              <a:buChar char="q"/>
            </a:pPr>
            <a:r>
              <a:rPr lang="en-US" sz="1340" dirty="0">
                <a:solidFill>
                  <a:srgbClr val="E5E7EB"/>
                </a:solidFill>
                <a:latin typeface="Arial" pitchFamily="34" charset="0"/>
                <a:ea typeface="Arial" pitchFamily="34" charset="-122"/>
                <a:cs typeface="Arial" pitchFamily="34" charset="-120"/>
              </a:rPr>
              <a:t>Recurring marker: παραμένει στη βάση, αλλά κρύβεται από τον χρήστη.</a:t>
            </a:r>
            <a:endParaRPr lang="en-US" sz="1340" dirty="0"/>
          </a:p>
          <a:p>
            <a:pPr marL="285750" indent="-285750">
              <a:buFont typeface="Wingdings" panose="05000000000000000000" pitchFamily="2" charset="2"/>
              <a:buChar char="q"/>
            </a:pPr>
            <a:r>
              <a:rPr lang="en-US" sz="1340" dirty="0">
                <a:solidFill>
                  <a:srgbClr val="E5E7EB"/>
                </a:solidFill>
                <a:latin typeface="Arial" pitchFamily="34" charset="0"/>
                <a:ea typeface="Arial" pitchFamily="34" charset="-122"/>
                <a:cs typeface="Arial" pitchFamily="34" charset="-120"/>
              </a:rPr>
              <a:t>Τελικό UI/UX polish σε φίλτρα, ημερομηνίες, exports και reports.</a:t>
            </a:r>
            <a:endParaRPr lang="en-US" sz="1340" dirty="0"/>
          </a:p>
        </p:txBody>
      </p:sp>
      <p:sp>
        <p:nvSpPr>
          <p:cNvPr id="9" name="Text 7"/>
          <p:cNvSpPr/>
          <p:nvPr/>
        </p:nvSpPr>
        <p:spPr>
          <a:xfrm>
            <a:off x="6400800" y="1417320"/>
            <a:ext cx="5029200" cy="2011680"/>
          </a:xfrm>
          <a:prstGeom prst="rect">
            <a:avLst/>
          </a:prstGeom>
          <a:noFill/>
          <a:ln/>
        </p:spPr>
        <p:txBody>
          <a:bodyPr wrap="square" lIns="635" tIns="635" rIns="635" bIns="635" rtlCol="0" anchor="t">
            <a:normAutofit/>
          </a:bodyPr>
          <a:lstStyle/>
          <a:p>
            <a:pPr marL="0" indent="0">
              <a:buNone/>
            </a:pPr>
            <a:r>
              <a:rPr lang="en-US" sz="1600" b="1" dirty="0">
                <a:solidFill>
                  <a:srgbClr val="22C55E"/>
                </a:solidFill>
                <a:latin typeface="Arial" pitchFamily="34" charset="0"/>
                <a:ea typeface="Arial" pitchFamily="34" charset="-122"/>
                <a:cs typeface="Arial" pitchFamily="34" charset="-120"/>
              </a:rPr>
              <a:t>Συμπέρασμα</a:t>
            </a:r>
            <a:r>
              <a:rPr lang="en-US" sz="1500" dirty="0">
                <a:solidFill>
                  <a:srgbClr val="E5E7EB"/>
                </a:solidFill>
                <a:latin typeface="Arial" pitchFamily="34" charset="0"/>
                <a:ea typeface="Arial" pitchFamily="34" charset="-122"/>
                <a:cs typeface="Arial" pitchFamily="34" charset="-120"/>
              </a:rPr>
              <a:t>Το project κατέληξε σε λειτουργική desktop εφαρμογή με καθαρή αρχιτεκτονική, SQLite βάση, γραφήματα, exports και ολοκληρωμένο manual testing.</a:t>
            </a:r>
            <a:endParaRPr lang="en-US" sz="1420" dirty="0"/>
          </a:p>
        </p:txBody>
      </p:sp>
      <p:sp>
        <p:nvSpPr>
          <p:cNvPr id="10" name="Text 8"/>
          <p:cNvSpPr/>
          <p:nvPr/>
        </p:nvSpPr>
        <p:spPr>
          <a:xfrm>
            <a:off x="6400800" y="4160520"/>
            <a:ext cx="4937760" cy="228600"/>
          </a:xfrm>
          <a:prstGeom prst="rect">
            <a:avLst/>
          </a:prstGeom>
          <a:noFill/>
          <a:ln/>
        </p:spPr>
        <p:txBody>
          <a:bodyPr wrap="square" lIns="0" tIns="0" rIns="0" bIns="0" rtlCol="0" anchor="ctr"/>
          <a:lstStyle/>
          <a:p>
            <a:pPr marL="0" indent="0">
              <a:buNone/>
            </a:pPr>
            <a:r>
              <a:rPr lang="en-US" sz="1070" dirty="0">
                <a:solidFill>
                  <a:srgbClr val="94A3B8"/>
                </a:solidFill>
                <a:latin typeface="Arial" pitchFamily="34" charset="0"/>
                <a:ea typeface="Arial" pitchFamily="34" charset="-122"/>
                <a:cs typeface="Arial" pitchFamily="34" charset="-120"/>
              </a:rPr>
              <a:t>Repository: https://github.com/efourtoulakis/Personal-Finance-App-EAP</a:t>
            </a:r>
            <a:endParaRPr lang="en-US" sz="1070" dirty="0"/>
          </a:p>
        </p:txBody>
      </p:sp>
      <p:sp>
        <p:nvSpPr>
          <p:cNvPr id="11" name="Text 9"/>
          <p:cNvSpPr/>
          <p:nvPr/>
        </p:nvSpPr>
        <p:spPr>
          <a:xfrm>
            <a:off x="6400800" y="4892040"/>
            <a:ext cx="4937760" cy="475488"/>
          </a:xfrm>
          <a:prstGeom prst="rect">
            <a:avLst/>
          </a:prstGeom>
          <a:noFill/>
          <a:ln/>
        </p:spPr>
        <p:txBody>
          <a:bodyPr wrap="square" lIns="0" tIns="0" rIns="0" bIns="0" rtlCol="0" anchor="ctr"/>
          <a:lstStyle/>
          <a:p>
            <a:pPr marL="0" indent="0">
              <a:buNone/>
            </a:pPr>
            <a:r>
              <a:rPr lang="en-US" sz="2600" b="1" dirty="0">
                <a:solidFill>
                  <a:srgbClr val="F8FAFC"/>
                </a:solidFill>
                <a:latin typeface="Arial" pitchFamily="34" charset="0"/>
                <a:ea typeface="Arial" pitchFamily="34" charset="-122"/>
                <a:cs typeface="Arial" pitchFamily="34" charset="-120"/>
              </a:rPr>
              <a:t>Ευχαριστούμε</a:t>
            </a:r>
            <a:endParaRPr lang="en-US" sz="2600" dirty="0"/>
          </a:p>
        </p:txBody>
      </p:sp>
      <p:sp>
        <p:nvSpPr>
          <p:cNvPr id="12" name="Shape 10"/>
          <p:cNvSpPr/>
          <p:nvPr/>
        </p:nvSpPr>
        <p:spPr>
          <a:xfrm>
            <a:off x="6400800" y="5550408"/>
            <a:ext cx="1828800" cy="0"/>
          </a:xfrm>
          <a:prstGeom prst="line">
            <a:avLst/>
          </a:prstGeom>
          <a:noFill/>
          <a:ln w="38100">
            <a:solidFill>
              <a:srgbClr val="3B82F6"/>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Θέμα του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1612</Words>
  <Application>Microsoft Office PowerPoint</Application>
  <PresentationFormat>Ευρεία οθόνη</PresentationFormat>
  <Paragraphs>213</Paragraphs>
  <Slides>13</Slides>
  <Notes>13</Notes>
  <HiddenSlides>0</HiddenSlides>
  <MMClips>0</MMClips>
  <ScaleCrop>false</ScaleCrop>
  <HeadingPairs>
    <vt:vector size="6" baseType="variant">
      <vt:variant>
        <vt:lpstr>Γραμματοσειρές που χρησιμοποιούνται</vt:lpstr>
      </vt:variant>
      <vt:variant>
        <vt:i4>4</vt:i4>
      </vt:variant>
      <vt:variant>
        <vt:lpstr>Θέμα</vt:lpstr>
      </vt:variant>
      <vt:variant>
        <vt:i4>1</vt:i4>
      </vt:variant>
      <vt:variant>
        <vt:lpstr>Τίτλοι διαφανειών</vt:lpstr>
      </vt:variant>
      <vt:variant>
        <vt:i4>13</vt:i4>
      </vt:variant>
    </vt:vector>
  </HeadingPairs>
  <TitlesOfParts>
    <vt:vector size="18" baseType="lpstr">
      <vt:lpstr>Arial</vt:lpstr>
      <vt:lpstr>Calibri</vt:lpstr>
      <vt:lpstr>Courier New</vt:lpstr>
      <vt:lpstr>Wingdings</vt:lpstr>
      <vt:lpstr>Office Theme</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vector>
  </TitlesOfParts>
  <Company>Ελληνικό Ανοικτό Πανεπιστήμιο</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Personal Finance Manager - Παρουσίαση</dc:title>
  <dc:subject>Project 06 - Personal Finance Manager</dc:subject>
  <dc:creator>ΕΑΠ - ΠΛΗΠΡΟ - ΗΛΕ50</dc:creator>
  <cp:lastModifiedBy>Evangelos Fourtoulakis</cp:lastModifiedBy>
  <cp:revision>6</cp:revision>
  <dcterms:created xsi:type="dcterms:W3CDTF">2026-06-09T21:41:10Z</dcterms:created>
  <dcterms:modified xsi:type="dcterms:W3CDTF">2026-06-10T16:31:06Z</dcterms:modified>
</cp:coreProperties>
</file>